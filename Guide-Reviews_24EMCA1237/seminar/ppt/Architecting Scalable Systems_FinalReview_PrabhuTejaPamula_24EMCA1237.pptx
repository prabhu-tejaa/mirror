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4" r:id="rId3"/>
    <p:sldId id="275" r:id="rId4"/>
    <p:sldId id="272" r:id="rId5"/>
    <p:sldId id="273" r:id="rId6"/>
    <p:sldId id="292" r:id="rId7"/>
    <p:sldId id="265" r:id="rId8"/>
    <p:sldId id="266" r:id="rId9"/>
    <p:sldId id="277" r:id="rId10"/>
    <p:sldId id="293" r:id="rId11"/>
    <p:sldId id="278" r:id="rId12"/>
    <p:sldId id="279" r:id="rId13"/>
    <p:sldId id="298" r:id="rId14"/>
    <p:sldId id="294" r:id="rId15"/>
    <p:sldId id="280" r:id="rId16"/>
    <p:sldId id="281" r:id="rId17"/>
    <p:sldId id="282" r:id="rId18"/>
    <p:sldId id="296" r:id="rId19"/>
    <p:sldId id="297" r:id="rId20"/>
    <p:sldId id="283" r:id="rId21"/>
    <p:sldId id="284" r:id="rId22"/>
    <p:sldId id="285" r:id="rId23"/>
    <p:sldId id="295" r:id="rId24"/>
    <p:sldId id="286" r:id="rId25"/>
    <p:sldId id="287" r:id="rId26"/>
    <p:sldId id="288" r:id="rId27"/>
    <p:sldId id="289" r:id="rId28"/>
    <p:sldId id="290" r:id="rId29"/>
    <p:sldId id="291" r:id="rId30"/>
    <p:sldId id="27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9972" autoAdjust="0"/>
    <p:restoredTop sz="94660"/>
  </p:normalViewPr>
  <p:slideViewPr>
    <p:cSldViewPr snapToGrid="0">
      <p:cViewPr varScale="1">
        <p:scale>
          <a:sx n="87" d="100"/>
          <a:sy n="87" d="100"/>
        </p:scale>
        <p:origin x="-302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0B1E15-52DC-FA93-5EDC-0DD2D03C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9161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2400" b="1" dirty="0">
                <a:ea typeface="+mj-lt"/>
                <a:cs typeface="+mj-lt"/>
              </a:rPr>
              <a:t>Engineering Scalable Systems: The Core Principles of LLD and SOLID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E27BA5A-FCDD-026C-4548-16053C39D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605192"/>
            <a:ext cx="3233305" cy="19700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Presented by: </a:t>
            </a:r>
          </a:p>
          <a:p>
            <a:pPr marL="0" indent="0">
              <a:buNone/>
            </a:pPr>
            <a:r>
              <a:rPr lang="en-US" b="1">
                <a:latin typeface="Calibri"/>
                <a:ea typeface="Calibri"/>
                <a:cs typeface="Calibri"/>
              </a:rPr>
              <a:t>Prabhu Teja Pamula 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24EMCA1237</a:t>
            </a:r>
          </a:p>
          <a:p>
            <a:pPr marL="0" indent="0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B98D82D-B30C-3ABD-28CB-C464E815B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67699" y="4432011"/>
            <a:ext cx="3086101" cy="21432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Seminar Guide: </a:t>
            </a:r>
            <a:endParaRPr lang="en-US"/>
          </a:p>
          <a:p>
            <a:pPr marL="0" indent="0">
              <a:buNone/>
            </a:pPr>
            <a:r>
              <a:rPr lang="en-US" b="1">
                <a:latin typeface="Calibri"/>
                <a:ea typeface="Calibri"/>
                <a:cs typeface="Calibri"/>
              </a:rPr>
              <a:t>Dr. Brijendra Singh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</a:p>
          <a:p>
            <a:pPr marL="0" indent="0"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Associate Professor</a:t>
            </a:r>
          </a:p>
          <a:p>
            <a:pPr marL="0" indent="0" algn="r">
              <a:buNone/>
            </a:pPr>
            <a:endParaRPr lang="en-US"/>
          </a:p>
          <a:p>
            <a:pPr marL="0" indent="0" algn="r">
              <a:buNone/>
            </a:pPr>
            <a:endParaRPr lang="en-US" sz="1800"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AEE31ED-ED9B-5090-0324-D67B1B6FD984}"/>
              </a:ext>
            </a:extLst>
          </p:cNvPr>
          <p:cNvSpPr txBox="1"/>
          <p:nvPr/>
        </p:nvSpPr>
        <p:spPr>
          <a:xfrm>
            <a:off x="371211" y="6038774"/>
            <a:ext cx="175704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smtClean="0"/>
              <a:t>Final Review </a:t>
            </a:r>
            <a:endParaRPr lang="en-US" dirty="0"/>
          </a:p>
          <a:p>
            <a:r>
              <a:rPr lang="en-US" dirty="0" smtClean="0"/>
              <a:t>30</a:t>
            </a:r>
            <a:r>
              <a:rPr lang="en-US" dirty="0" smtClean="0"/>
              <a:t> </a:t>
            </a:r>
            <a:r>
              <a:rPr lang="en-US" dirty="0"/>
              <a:t>June 2026</a:t>
            </a:r>
          </a:p>
        </p:txBody>
      </p:sp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B529B9D4-FE21-38D0-B570-12FA1A7F049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xmlns="" id="{4F600E18-895D-A6D7-2A0C-7DFCBC01FEB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Seminar</a:t>
            </a:r>
          </a:p>
        </p:txBody>
      </p:sp>
    </p:spTree>
    <p:extLst>
      <p:ext uri="{BB962C8B-B14F-4D97-AF65-F5344CB8AC3E}">
        <p14:creationId xmlns:p14="http://schemas.microsoft.com/office/powerpoint/2010/main" xmlns="" val="505409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6FD52B-49E1-8908-DA94-A968BE76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9A153C-0B46-5669-321E-F07DFD01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  <a:buNone/>
            </a:pPr>
            <a:r>
              <a:rPr lang="en-US" b="1" dirty="0"/>
              <a:t>Phase 1: </a:t>
            </a:r>
          </a:p>
          <a:p>
            <a:pPr>
              <a:lnSpc>
                <a:spcPct val="100000"/>
              </a:lnSpc>
              <a:buNone/>
            </a:pPr>
            <a:r>
              <a:rPr lang="en-US" b="1" dirty="0"/>
              <a:t>Architectural Assessment &amp; Problem Domain</a:t>
            </a:r>
            <a:endParaRPr lang="en-US" dirty="0"/>
          </a:p>
          <a:p>
            <a:pPr lvl="1">
              <a:lnSpc>
                <a:spcPct val="100000"/>
              </a:lnSpc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b="1" dirty="0"/>
              <a:t>The Phenomenon of Software Rot:</a:t>
            </a:r>
            <a:r>
              <a:rPr lang="en-US" dirty="0"/>
              <a:t> Degradation Metrics in Production Environments.</a:t>
            </a:r>
          </a:p>
          <a:p>
            <a:pPr lvl="1">
              <a:lnSpc>
                <a:spcPct val="100000"/>
              </a:lnSpc>
              <a:buNone/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b="1" dirty="0"/>
              <a:t>Structural Code Failures:</a:t>
            </a:r>
            <a:r>
              <a:rPr lang="en-US" dirty="0"/>
              <a:t> Mechanics of Fragility, Rigidity and High Coupling Cascades.</a:t>
            </a:r>
          </a:p>
          <a:p>
            <a:pPr lvl="1">
              <a:lnSpc>
                <a:spcPct val="100000"/>
              </a:lnSpc>
              <a:buNone/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b="1" dirty="0"/>
              <a:t>System Boundaries:</a:t>
            </a:r>
            <a:r>
              <a:rPr lang="en-US" dirty="0"/>
              <a:t> Delineating High Level Design (HLD) Topology from Low Level Design (LLD) Components. 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24273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6FD52B-49E1-8908-DA94-A968BE76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9A153C-0B46-5669-321E-F07DFD01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1" dirty="0"/>
              <a:t>Phase 2: </a:t>
            </a:r>
          </a:p>
          <a:p>
            <a:pPr>
              <a:lnSpc>
                <a:spcPct val="100000"/>
              </a:lnSpc>
              <a:buNone/>
            </a:pPr>
            <a:r>
              <a:rPr lang="en-US" b="1" dirty="0"/>
              <a:t>The Foundational Layer (The OOP to SOLID Transition)</a:t>
            </a:r>
            <a:endParaRPr lang="en-US" dirty="0"/>
          </a:p>
          <a:p>
            <a:pPr lvl="1">
              <a:lnSpc>
                <a:spcPct val="100000"/>
              </a:lnSpc>
              <a:buNone/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b="1" dirty="0"/>
              <a:t>The Paradox of Object Oriented Programming:</a:t>
            </a:r>
            <a:r>
              <a:rPr lang="en-US" dirty="0"/>
              <a:t> How Misused Inheritance and Encapsulation Drive Rigidity.</a:t>
            </a:r>
          </a:p>
          <a:p>
            <a:pPr lvl="1">
              <a:lnSpc>
                <a:spcPct val="100000"/>
              </a:lnSpc>
              <a:buNone/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b="1" dirty="0"/>
              <a:t>Design Smells:</a:t>
            </a:r>
            <a:r>
              <a:rPr lang="en-US" dirty="0"/>
              <a:t> Technical Indicators of Component Inelasticity and Immobility.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24273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6FD52B-49E1-8908-DA94-A968BE76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9A153C-0B46-5669-321E-F07DFD01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/>
              <a:t>Phase 3: </a:t>
            </a:r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	The SOLID Engineering Framework</a:t>
            </a: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/>
              <a:t>Single Responsibility Principle (SRP):</a:t>
            </a:r>
            <a:r>
              <a:rPr lang="en-US" dirty="0"/>
              <a:t> Designing High Cohesion and Single Reasons to Change.</a:t>
            </a:r>
          </a:p>
          <a:p>
            <a:pPr lvl="1">
              <a:lnSpc>
                <a:spcPct val="120000"/>
              </a:lnSpc>
              <a:buNone/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/>
              <a:t>Open/Closed Principle (OCP):</a:t>
            </a:r>
            <a:r>
              <a:rPr lang="en-US" dirty="0"/>
              <a:t> Abstraction Layers and Extension Vectors.</a:t>
            </a:r>
          </a:p>
          <a:p>
            <a:pPr lvl="1">
              <a:lnSpc>
                <a:spcPct val="120000"/>
              </a:lnSpc>
              <a:buNone/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 err="1"/>
              <a:t>Liskov</a:t>
            </a:r>
            <a:r>
              <a:rPr lang="en-US" b="1" dirty="0"/>
              <a:t> Substitution Principle (LSP):</a:t>
            </a:r>
            <a:r>
              <a:rPr lang="en-US" dirty="0"/>
              <a:t> </a:t>
            </a:r>
            <a:r>
              <a:rPr lang="en-US" dirty="0" err="1"/>
              <a:t>Subtyping</a:t>
            </a:r>
            <a:r>
              <a:rPr lang="en-US" dirty="0"/>
              <a:t> Contracts and Behavioral Invariance.</a:t>
            </a:r>
          </a:p>
          <a:p>
            <a:pPr lvl="1">
              <a:lnSpc>
                <a:spcPct val="120000"/>
              </a:lnSpc>
              <a:buNone/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/>
              <a:t>Interface Segregation Principle (ISP):</a:t>
            </a:r>
            <a:r>
              <a:rPr lang="en-US" dirty="0"/>
              <a:t> Lean Contracts vs. Fat Interface Anti Patterns.</a:t>
            </a:r>
          </a:p>
          <a:p>
            <a:pPr lvl="1">
              <a:lnSpc>
                <a:spcPct val="120000"/>
              </a:lnSpc>
              <a:buNone/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/>
              <a:t>Dependency Inversion Principle (DIP):</a:t>
            </a:r>
            <a:r>
              <a:rPr lang="en-US" dirty="0"/>
              <a:t> Component Decoupling &amp; Dependency Injection Mechanics.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24273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6FD52B-49E1-8908-DA94-A968BE76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9A153C-0B46-5669-321E-F07DFD01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/>
              <a:t>Phase 4: </a:t>
            </a:r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Design Patterns &amp; Real World Validation</a:t>
            </a: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/>
              <a:t>Creational Blueprints:</a:t>
            </a:r>
            <a:r>
              <a:rPr lang="en-US" dirty="0"/>
              <a:t> Factory Method Implementation Logic &amp; Object Instantiation Decoupling.</a:t>
            </a:r>
          </a:p>
          <a:p>
            <a:pPr lvl="1">
              <a:lnSpc>
                <a:spcPct val="120000"/>
              </a:lnSpc>
              <a:buNone/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/>
              <a:t>Behavioral Blueprints:</a:t>
            </a:r>
            <a:r>
              <a:rPr lang="en-US" dirty="0"/>
              <a:t> Strategy Pattern for Runtime Algorithm Interchangeability.</a:t>
            </a:r>
          </a:p>
          <a:p>
            <a:pPr lvl="1">
              <a:lnSpc>
                <a:spcPct val="120000"/>
              </a:lnSpc>
              <a:buNone/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/>
              <a:t>Enterprise Case Studies:</a:t>
            </a:r>
            <a:r>
              <a:rPr lang="en-US" dirty="0"/>
              <a:t> Bridging Academic MCA Coding to Production Ready Systems </a:t>
            </a:r>
          </a:p>
          <a:p>
            <a:pPr lvl="1">
              <a:lnSpc>
                <a:spcPct val="120000"/>
              </a:lnSpc>
            </a:pPr>
            <a:endParaRPr lang="en-US" b="1" dirty="0"/>
          </a:p>
          <a:p>
            <a:pPr lvl="1">
              <a:lnSpc>
                <a:spcPct val="120000"/>
              </a:lnSpc>
            </a:pPr>
            <a:r>
              <a:rPr lang="en-US" b="1" dirty="0"/>
              <a:t>Seminar Synthesis:</a:t>
            </a:r>
            <a:r>
              <a:rPr lang="en-US" dirty="0"/>
              <a:t> Key Technical Takeaways &amp; Reference Verification.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24273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27739"/>
            <a:ext cx="10515600" cy="1325563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IN" dirty="0"/>
              <a:t>Phase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47733"/>
            <a:ext cx="10515600" cy="998855"/>
          </a:xfrm>
        </p:spPr>
        <p:txBody>
          <a:bodyPr/>
          <a:lstStyle/>
          <a:p>
            <a:pPr algn="ctr">
              <a:lnSpc>
                <a:spcPct val="100000"/>
              </a:lnSpc>
              <a:buNone/>
            </a:pPr>
            <a:r>
              <a:rPr lang="en-US" b="1" dirty="0"/>
              <a:t>Architectural Assessment &amp; Problem Domain</a:t>
            </a:r>
            <a:endParaRPr lang="en-US" dirty="0"/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DF4679-47D9-8103-1FD7-E36B2D18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Phenomenon of Software Rot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AB8F13-79EB-43CF-3046-69154F0B7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22452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/>
              <a:t>The Working Code Trap</a:t>
            </a:r>
            <a:r>
              <a:rPr lang="en-US" sz="1400" dirty="0"/>
              <a:t> 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Just because code compiles and passes its current tests does not mean it is high quality. 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Real success means the code is clean enough for another developer to safely modify it next month without triggering unexpected system failures. 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Focusing only on quick results creates hidden traps that make future development impossible.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Why Code Automatically Rots</a:t>
            </a:r>
            <a:r>
              <a:rPr lang="en-US" sz="1400" dirty="0"/>
              <a:t> 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Tight deadlines and pressure force developers to write quick, messy fixes rather than clean architectures. 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Skipping proper low level design blueprints causes code quality to drop continuously over time. 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Rushing a feature out the door without refactoring leaves behind permanent structural flaws.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Understanding Technical Debt</a:t>
            </a:r>
            <a:endParaRPr lang="en-US" sz="1400" dirty="0"/>
          </a:p>
          <a:p>
            <a:pPr lvl="1">
              <a:lnSpc>
                <a:spcPct val="110000"/>
              </a:lnSpc>
            </a:pPr>
            <a:r>
              <a:rPr lang="en-US" sz="1000" dirty="0"/>
              <a:t>Technical debt is the long term cost of taking shortcuts and writing messy code to hit a fast deadline.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It acts like financial debt: you get a quick release today, but you pay heavy "interest" later through constant bugs and slower development speed.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If a team ignores this debt and never </a:t>
            </a:r>
            <a:r>
              <a:rPr lang="en-US" sz="1000" dirty="0" err="1"/>
              <a:t>refactors</a:t>
            </a:r>
            <a:r>
              <a:rPr lang="en-US" sz="1000" dirty="0"/>
              <a:t> the code, the codebase eventually becomes too expensive and broken to maintain.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Visible Signs of Rotting Code</a:t>
            </a:r>
            <a:r>
              <a:rPr lang="en-US" sz="1400" dirty="0"/>
              <a:t> 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Simple updates that used to take a few hours now take days or weeks of manual troubleshooting. 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The system becomes highly fragile, patching a single bug instantly creates multiple new errors across unrelated modules. </a:t>
            </a:r>
          </a:p>
          <a:p>
            <a:pPr lvl="1">
              <a:lnSpc>
                <a:spcPct val="110000"/>
              </a:lnSpc>
            </a:pPr>
            <a:r>
              <a:rPr lang="en-US" sz="1000" dirty="0"/>
              <a:t>Engineering teams spend almost all of their working hours fighting critical production fires instead of building valuable new features. 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49E90F83-7505-05E0-1500-A9AB0CBD686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6" name="Content Placeholder 3" descr="Replica Set Replication Flow-2026-06-08-11335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225671" y="1546959"/>
            <a:ext cx="1677671" cy="49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70072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Structural Code Failures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7442202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050" b="1" dirty="0"/>
              <a:t>The Reality of Rigidity:</a:t>
            </a:r>
            <a:r>
              <a:rPr lang="en-US" sz="1050" dirty="0"/>
              <a:t>  </a:t>
            </a:r>
          </a:p>
          <a:p>
            <a:pPr lvl="1">
              <a:lnSpc>
                <a:spcPct val="100000"/>
              </a:lnSpc>
            </a:pPr>
            <a:r>
              <a:rPr lang="en-US" sz="1050" dirty="0"/>
              <a:t>Rigidity occurs when a codebase becomes entirely stiff and heavily resists everyday updates or logic modifications.</a:t>
            </a:r>
          </a:p>
          <a:p>
            <a:pPr lvl="1">
              <a:lnSpc>
                <a:spcPct val="100000"/>
              </a:lnSpc>
            </a:pPr>
            <a:r>
              <a:rPr lang="en-US" sz="1050" dirty="0"/>
              <a:t>When an engineer attempts to execute a simple feature change in one localized file, it triggers a ripple effect, forcing manual code rewrites across multiple dependent modules.</a:t>
            </a:r>
          </a:p>
          <a:p>
            <a:pPr lvl="1">
              <a:lnSpc>
                <a:spcPct val="100000"/>
              </a:lnSpc>
            </a:pPr>
            <a:r>
              <a:rPr lang="en-US" sz="1050" dirty="0"/>
              <a:t>This design failure severely damages development velocity because minor tasks require hours or days of unnecessary, exhausting refactoring.</a:t>
            </a:r>
            <a:endParaRPr lang="en-US" sz="1050" b="1" dirty="0"/>
          </a:p>
          <a:p>
            <a:pPr>
              <a:lnSpc>
                <a:spcPct val="100000"/>
              </a:lnSpc>
              <a:buNone/>
            </a:pPr>
            <a:r>
              <a:rPr lang="en-US" sz="1050" b="1" dirty="0"/>
              <a:t>The Threat of Fragility:</a:t>
            </a:r>
            <a:endParaRPr lang="en-US" sz="1050" dirty="0"/>
          </a:p>
          <a:p>
            <a:pPr lvl="1">
              <a:lnSpc>
                <a:spcPct val="100000"/>
              </a:lnSpc>
            </a:pPr>
            <a:r>
              <a:rPr lang="en-US" sz="1050" dirty="0"/>
              <a:t>Fragility describes a highly unstable production system that fractures easily whenever code modifications are deployed.</a:t>
            </a:r>
          </a:p>
          <a:p>
            <a:pPr lvl="1">
              <a:lnSpc>
                <a:spcPct val="100000"/>
              </a:lnSpc>
            </a:pPr>
            <a:r>
              <a:rPr lang="en-US" sz="1050" dirty="0"/>
              <a:t>When a small, isolated bug patch is applied to a single component, it unexpectedly disables completely unrelated functional areas deep inside the platform layout.</a:t>
            </a:r>
          </a:p>
          <a:p>
            <a:pPr lvl="1">
              <a:lnSpc>
                <a:spcPct val="100000"/>
              </a:lnSpc>
            </a:pPr>
            <a:r>
              <a:rPr lang="en-US" sz="1050" dirty="0"/>
              <a:t>This forces engineering teams into a defensive position where they feel like they are constantly walking on eggshells during every release window.</a:t>
            </a:r>
            <a:endParaRPr lang="en-US" sz="1050" b="1" dirty="0"/>
          </a:p>
          <a:p>
            <a:pPr>
              <a:lnSpc>
                <a:spcPct val="100000"/>
              </a:lnSpc>
              <a:buNone/>
            </a:pPr>
            <a:r>
              <a:rPr lang="en-US" sz="1050" b="1" dirty="0"/>
              <a:t>The High Coupling Cascade:</a:t>
            </a:r>
            <a:endParaRPr lang="en-US" sz="1050" dirty="0"/>
          </a:p>
          <a:p>
            <a:pPr lvl="1">
              <a:lnSpc>
                <a:spcPct val="100000"/>
              </a:lnSpc>
            </a:pPr>
            <a:r>
              <a:rPr lang="en-US" sz="1050" dirty="0"/>
              <a:t>High coupling represents the structural architectural failure that acts as the direct root cause behind both rigidity and fragility.</a:t>
            </a:r>
          </a:p>
          <a:p>
            <a:pPr lvl="1">
              <a:lnSpc>
                <a:spcPct val="100000"/>
              </a:lnSpc>
            </a:pPr>
            <a:r>
              <a:rPr lang="en-US" sz="1050" dirty="0"/>
              <a:t>This degradation takes place when concrete objects or classes contain intimate, hardcoded dependencies regarding the internal mechanics of neighboring components.</a:t>
            </a:r>
          </a:p>
          <a:p>
            <a:pPr lvl="1">
              <a:lnSpc>
                <a:spcPct val="100000"/>
              </a:lnSpc>
            </a:pPr>
            <a:r>
              <a:rPr lang="en-US" sz="1050" dirty="0"/>
              <a:t>Instead of functioning like loose, interchangeable Lego blocks that support clean upgrades, the system modules operate as an inseparable, permanently glued mass.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7" name="Picture 6" descr="Untitled Diagram.drawio (16)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68640" y="1534160"/>
            <a:ext cx="3738236" cy="514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System Boundaries – HLD vs. LLD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7401564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900" b="1" dirty="0"/>
              <a:t>The Macro Architecture vs. Micro Component Boundary:</a:t>
            </a:r>
            <a:endParaRPr lang="en-US" sz="900" dirty="0"/>
          </a:p>
          <a:p>
            <a:pPr lvl="1">
              <a:lnSpc>
                <a:spcPct val="100000"/>
              </a:lnSpc>
            </a:pPr>
            <a:r>
              <a:rPr lang="en-US" sz="800" dirty="0"/>
              <a:t>High Level Design (HLD) acts as the comprehensive macro map of the system, defining where major infrastructure assets sit across the network topology.</a:t>
            </a:r>
          </a:p>
          <a:p>
            <a:pPr lvl="1">
              <a:lnSpc>
                <a:spcPct val="100000"/>
              </a:lnSpc>
            </a:pPr>
            <a:r>
              <a:rPr lang="en-US" sz="800" dirty="0"/>
              <a:t>Low Level Design (LLD) serves as the precise logical blueprint of an individual code module, outlining class interactions and code Level component relationships.</a:t>
            </a:r>
          </a:p>
          <a:p>
            <a:pPr lvl="1">
              <a:lnSpc>
                <a:spcPct val="100000"/>
              </a:lnSpc>
            </a:pPr>
            <a:r>
              <a:rPr lang="en-US" sz="800" dirty="0"/>
              <a:t>Establishing a clear, distinct boundary between these two domains ensures infrastructure scaling decisions remain decoupled from day to day code modifications.</a:t>
            </a:r>
            <a:endParaRPr lang="en-US" sz="900" b="1" dirty="0"/>
          </a:p>
          <a:p>
            <a:pPr>
              <a:lnSpc>
                <a:spcPct val="100000"/>
              </a:lnSpc>
              <a:buNone/>
            </a:pPr>
            <a:r>
              <a:rPr lang="en-US" sz="900" b="1" dirty="0"/>
              <a:t>Infrastructure Topology &amp; Global Routing Data (HLD):</a:t>
            </a:r>
            <a:endParaRPr lang="en-US" sz="900" dirty="0"/>
          </a:p>
          <a:p>
            <a:pPr lvl="1">
              <a:lnSpc>
                <a:spcPct val="100000"/>
              </a:lnSpc>
            </a:pPr>
            <a:r>
              <a:rPr lang="en-US" sz="800" dirty="0"/>
              <a:t>Dictates the macro level engineering environment, including the selection of enterprise relational or non relational database engines.</a:t>
            </a:r>
          </a:p>
          <a:p>
            <a:pPr lvl="1">
              <a:lnSpc>
                <a:spcPct val="100000"/>
              </a:lnSpc>
            </a:pPr>
            <a:r>
              <a:rPr lang="en-US" sz="800" dirty="0"/>
              <a:t>Establishes load balancing algorithms, API gateway ingress controls, cloud server cluster configurations, and physical data center routing strategies.</a:t>
            </a:r>
          </a:p>
          <a:p>
            <a:pPr lvl="1">
              <a:lnSpc>
                <a:spcPct val="100000"/>
              </a:lnSpc>
            </a:pPr>
            <a:r>
              <a:rPr lang="en-US" sz="800" dirty="0"/>
              <a:t>Manages how independent software systems, external </a:t>
            </a:r>
            <a:r>
              <a:rPr lang="en-US" sz="800" dirty="0" err="1"/>
              <a:t>microservices</a:t>
            </a:r>
            <a:r>
              <a:rPr lang="en-US" sz="800" dirty="0"/>
              <a:t>, and third party APIs transmit massive data streams across the network layer safely.</a:t>
            </a:r>
            <a:endParaRPr lang="en-US" sz="900" b="1" dirty="0"/>
          </a:p>
          <a:p>
            <a:pPr>
              <a:lnSpc>
                <a:spcPct val="100000"/>
              </a:lnSpc>
              <a:buNone/>
            </a:pPr>
            <a:r>
              <a:rPr lang="en-US" sz="900" b="1" dirty="0"/>
              <a:t>Component-Level Mechanics &amp; Code Governance (LLD):</a:t>
            </a:r>
            <a:endParaRPr lang="en-US" sz="900" dirty="0"/>
          </a:p>
          <a:p>
            <a:pPr lvl="1">
              <a:lnSpc>
                <a:spcPct val="100000"/>
              </a:lnSpc>
            </a:pPr>
            <a:r>
              <a:rPr lang="en-US" sz="800" dirty="0"/>
              <a:t>Operates entirely at the micro level, defining exactly how software engineers write clean, maintainable object-oriented programming files.</a:t>
            </a:r>
          </a:p>
          <a:p>
            <a:pPr lvl="1">
              <a:lnSpc>
                <a:spcPct val="100000"/>
              </a:lnSpc>
            </a:pPr>
            <a:r>
              <a:rPr lang="en-US" sz="800" dirty="0"/>
              <a:t>Establishes the exact communication boundaries between concrete classes, public interfaces, abstractions, and data transfer objects.</a:t>
            </a:r>
          </a:p>
          <a:p>
            <a:pPr lvl="1">
              <a:lnSpc>
                <a:spcPct val="100000"/>
              </a:lnSpc>
            </a:pPr>
            <a:r>
              <a:rPr lang="en-US" sz="800" dirty="0"/>
              <a:t>Enforces strict object oriented design patterns and creational strategies, allowing specific code modules to accept new business features without risking system crashes.</a:t>
            </a:r>
            <a:endParaRPr lang="en-US" sz="900" b="1" dirty="0"/>
          </a:p>
          <a:p>
            <a:pPr>
              <a:lnSpc>
                <a:spcPct val="100000"/>
              </a:lnSpc>
              <a:buNone/>
            </a:pPr>
            <a:r>
              <a:rPr lang="en-US" sz="900" b="1" dirty="0"/>
              <a:t>The Interdependency Threshold &amp; System Viability:</a:t>
            </a:r>
            <a:endParaRPr lang="en-US" sz="900" dirty="0"/>
          </a:p>
          <a:p>
            <a:pPr lvl="1">
              <a:lnSpc>
                <a:spcPct val="100000"/>
              </a:lnSpc>
            </a:pPr>
            <a:r>
              <a:rPr lang="en-US" sz="800" dirty="0"/>
              <a:t>High Level Design provides the scalable hosting environment to process user requests, while Low Level Design ensures code remains financially maintainable over time.</a:t>
            </a:r>
          </a:p>
          <a:p>
            <a:pPr lvl="1">
              <a:lnSpc>
                <a:spcPct val="100000"/>
              </a:lnSpc>
            </a:pPr>
            <a:r>
              <a:rPr lang="en-US" sz="800" dirty="0"/>
              <a:t>Without robust LLD governance, code complexity grows exponentially, eventually leading to cascading software decay that halts new software features entirely.</a:t>
            </a:r>
          </a:p>
          <a:p>
            <a:pPr lvl="1">
              <a:lnSpc>
                <a:spcPct val="100000"/>
              </a:lnSpc>
            </a:pPr>
            <a:r>
              <a:rPr lang="en-US" sz="800" dirty="0"/>
              <a:t>Even if a company invests in highly expensive cloud server architectures, the overall platform will crash if the underlying code is allowed to rot into an unmanageable mess.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13" name="Picture 12" descr="Untitled Diagram.drawio (17)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58480" y="1422400"/>
            <a:ext cx="3904840" cy="481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38200" y="22277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Phase 2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447733"/>
            <a:ext cx="10515600" cy="998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buNone/>
            </a:pPr>
            <a:r>
              <a:rPr lang="en-US" sz="2800" b="1" dirty="0"/>
              <a:t>The Foundational Layer (The OOP to SOLID Transition)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Paradox of OOP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7767324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20000"/>
              </a:lnSpc>
              <a:buNone/>
            </a:pPr>
            <a:r>
              <a:rPr lang="en-US" sz="1400" b="1" dirty="0"/>
              <a:t>The Trap (The Semantic Misuse of Inheritance)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The Misconception of Code Reuse:</a:t>
            </a:r>
            <a:r>
              <a:rPr lang="en-US" sz="1000" dirty="0"/>
              <a:t> Most developers mistakenly use Inheritance as a shortcut for code reuse rather than representing a strict, logical "IS-A" relationship.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Implementation Binding:</a:t>
            </a:r>
            <a:r>
              <a:rPr lang="en-US" sz="1000" dirty="0"/>
              <a:t> This binds the child class to the physical implementation details of the parent, violating the principle of local reasoning.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Architectural Stagnation:</a:t>
            </a:r>
            <a:r>
              <a:rPr lang="en-US" sz="1000" dirty="0"/>
              <a:t> Because the subclass is now a slave to the parent’s logic, the system loses the ability to evolve components independently.</a:t>
            </a:r>
            <a:endParaRPr lang="en-US" sz="1400" b="1" dirty="0"/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The Problem (The Fragile Base Class Cascade)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Deep Hierarchy Vulnerability:</a:t>
            </a:r>
            <a:r>
              <a:rPr lang="en-US" sz="1000" dirty="0"/>
              <a:t> Creating deep inheritance trees (Parent &gt; Child &gt; Grandchild) introduces the "Fragile Base Class" problem into the architecture. 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The Ripple Effect:</a:t>
            </a:r>
            <a:r>
              <a:rPr lang="en-US" sz="1000" dirty="0"/>
              <a:t> A minor, seemingly safe modification in the root "Parent" class triggers a destructive regression cascade through dozens of descendant classes.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The Birth of Rigidity:</a:t>
            </a:r>
            <a:r>
              <a:rPr lang="en-US" sz="1000" dirty="0"/>
              <a:t> This is precisely how </a:t>
            </a:r>
            <a:r>
              <a:rPr lang="en-US" sz="1000" b="1" dirty="0"/>
              <a:t>Rigidity</a:t>
            </a:r>
            <a:r>
              <a:rPr lang="en-US" sz="1000" dirty="0"/>
              <a:t> is born; engineers become afraid to touch core classes because they cannot predict which "Leaf" classes will crash.</a:t>
            </a:r>
            <a:endParaRPr lang="en-US" sz="1400" b="1" dirty="0"/>
          </a:p>
          <a:p>
            <a:pPr>
              <a:lnSpc>
                <a:spcPct val="120000"/>
              </a:lnSpc>
              <a:buNone/>
            </a:pPr>
            <a:r>
              <a:rPr lang="en-US" sz="1400" b="1" dirty="0"/>
              <a:t>Encapsulation Failure (The Getter/Setter Anti-Pattern)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Pseudo Encapsulation:</a:t>
            </a:r>
            <a:r>
              <a:rPr lang="en-US" sz="1000" dirty="0"/>
              <a:t> Simply hiding variables but providing public "Getters" and "Setters" for everything is not true encapsulation, it is a data leak.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Anemic Domain Models:</a:t>
            </a:r>
            <a:r>
              <a:rPr lang="en-US" sz="1000" dirty="0"/>
              <a:t> This creates "Dumb Data Classes" where logic is separated from data, allowing external modules to bind directly to internal structures.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Loss of Integrity:</a:t>
            </a:r>
            <a:r>
              <a:rPr lang="en-US" sz="1000" dirty="0"/>
              <a:t> Every external class becomes dependent on the internal state of the object, making it impossible to change the data structure without breaking the entire system.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8" name="Picture 7" descr="Untitled Diagram.drawio (18)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567436" y="1117600"/>
            <a:ext cx="3116840" cy="550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Design Smells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4" y="1825625"/>
            <a:ext cx="10515600" cy="4351338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/>
              <a:t>The Concept of Architectural Design Smells: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A design smell is not an active execution bug or a production compiler error. Instead, it represents a structural symptom indicating that the underlying architecture is actively rotting.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It acts as an early warning metric for software engineers, signaling that while the system currently passes its tests, future logic updates will become drastically harder to implement safely.</a:t>
            </a: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Inelasticity (Structural Rigidity &amp; Resistance to Change):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Inelasticity occurs when a codebase becomes entirely stiff and fails to bend or adapt gracefully to changing software requirements.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When a developer attempts to stretch the current system framework to integrate a new business feature, the rigid dependency links snap, creating critical regression errors.</a:t>
            </a: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Immobility (The Inability to Reuse System Modules):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Immobility describes a failure state where a highly valuable module, such as a "Login" or "Authentication" component, cannot be shared or reused in a separate company project.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Because the module is tightly glued to local database configurations and specific logging engines, reusing it requires copy pasting massive chunks of irrelevant, bloated infrastructure logic alongside it.</a:t>
            </a: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Viscosity (The Path of Least Resistance vs. Design Governance):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Viscosity measures how difficult it is for a software engineer to do the right thing versus executing a dangerous shortcut.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When a system exhibits high viscosity, it is physically easier and faster for a developer to implement a sloppy, hacky fix than it is to preserve and follow the formal, clean architectural patterns.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Untitled Diagram.drawio (29)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38200" y="2014730"/>
            <a:ext cx="10515600" cy="3973127"/>
          </a:xfr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4305" y="150829"/>
            <a:ext cx="861392" cy="8613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38200" y="22277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Phase 3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447733"/>
            <a:ext cx="10515600" cy="998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buNone/>
            </a:pPr>
            <a:r>
              <a:rPr lang="en-US" sz="2800" b="1" dirty="0"/>
              <a:t>The SOLID Engineering Framework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 to SOLID Principles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7482844" cy="4351338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b="1" dirty="0"/>
              <a:t>The Architectural Evolution (Component Governance):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Basic Object-Oriented Programming (OOP) only offers elementary structural components like Classes, Interfaces, Polymorphism, and Encapsulation.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Crucially, raw OOP provides no standard governance rules on how to assemble these components safely; </a:t>
            </a:r>
            <a:r>
              <a:rPr lang="en-US" b="1" dirty="0"/>
              <a:t>SOLID</a:t>
            </a:r>
            <a:r>
              <a:rPr lang="en-US" dirty="0"/>
              <a:t> provides that necessary governance framework.</a:t>
            </a: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The Core Architectural Objective: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The primary objective of the SOLID framework is to structurally limit the blast radius of day-to-day software code modifications.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Implementing these patterns ensures that a feature update or bug patch made to one localized system module never ripples outward to break completely unrelated features.</a:t>
            </a:r>
            <a:endParaRPr lang="en-US" b="1" dirty="0"/>
          </a:p>
          <a:p>
            <a:pPr>
              <a:lnSpc>
                <a:spcPct val="120000"/>
              </a:lnSpc>
              <a:buNone/>
            </a:pPr>
            <a:r>
              <a:rPr lang="en-US" b="1" dirty="0"/>
              <a:t>The Return-on-Investment (ROI) Stability Curve: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Ungoverned software suffers from an exponential cost-of-change curve, meaning updates become drastically slower and more expensive over the lifecycle.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Adhering to SOLID straightens this trajectory into a predictable, linear pace, protecting long-term development velocity.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12" name="Picture 11" descr="Untitled Diagram.drawio (20)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99048" y="1290578"/>
            <a:ext cx="3120651" cy="541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Single Responsibility Principle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748284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1" dirty="0"/>
              <a:t>The Formal Definition:</a:t>
            </a:r>
          </a:p>
          <a:p>
            <a:pPr lvl="1">
              <a:lnSpc>
                <a:spcPct val="100000"/>
              </a:lnSpc>
            </a:pPr>
            <a:r>
              <a:rPr lang="en-US" sz="1200" b="1" dirty="0"/>
              <a:t>Actor-Driven Responsibility:</a:t>
            </a:r>
            <a:r>
              <a:rPr lang="en-US" sz="1200" dirty="0"/>
              <a:t> Robert C. Martin (Uncle Bob) defines SRP strictly around business stakeholders: "A module should be responsible to one, and only one, actor."</a:t>
            </a:r>
          </a:p>
          <a:p>
            <a:pPr lvl="1">
              <a:lnSpc>
                <a:spcPct val="100000"/>
              </a:lnSpc>
            </a:pPr>
            <a:r>
              <a:rPr lang="en-US" sz="1200" b="1" dirty="0"/>
              <a:t>Defining the Actor:</a:t>
            </a:r>
            <a:r>
              <a:rPr lang="en-US" sz="1200" dirty="0"/>
              <a:t> An actor represents a specific group of stakeholders (such as Finance, HR, or DBAs) who possess unique business requirements and can independently request a code change.</a:t>
            </a:r>
            <a:endParaRPr lang="en-US" sz="2000" b="1" dirty="0"/>
          </a:p>
          <a:p>
            <a:pPr>
              <a:lnSpc>
                <a:spcPct val="100000"/>
              </a:lnSpc>
              <a:buNone/>
            </a:pPr>
            <a:r>
              <a:rPr lang="en-US" sz="2000" b="1" dirty="0"/>
              <a:t>Reason for Change:</a:t>
            </a:r>
          </a:p>
          <a:p>
            <a:pPr lvl="1">
              <a:lnSpc>
                <a:spcPct val="100000"/>
              </a:lnSpc>
            </a:pPr>
            <a:r>
              <a:rPr lang="en-US" sz="1200" b="1" dirty="0"/>
              <a:t>The Single Pivot Metric:</a:t>
            </a:r>
            <a:r>
              <a:rPr lang="en-US" sz="1200" dirty="0"/>
              <a:t> SRP is not about a class performing only "one functional task." It dictates that a class must possess a single, isolated reason to change.</a:t>
            </a:r>
          </a:p>
          <a:p>
            <a:pPr lvl="1">
              <a:lnSpc>
                <a:spcPct val="100000"/>
              </a:lnSpc>
            </a:pPr>
            <a:r>
              <a:rPr lang="en-US" sz="1200" b="1" dirty="0"/>
              <a:t>The Multi-Actor Violation:</a:t>
            </a:r>
            <a:r>
              <a:rPr lang="en-US" sz="1200" dirty="0"/>
              <a:t> If a single class serves multiple actors simultaneously, it creates a severe architectural violation, tying independent business workflows to the same file.</a:t>
            </a:r>
            <a:endParaRPr lang="en-US" sz="2000" b="1" dirty="0"/>
          </a:p>
          <a:p>
            <a:pPr>
              <a:lnSpc>
                <a:spcPct val="100000"/>
              </a:lnSpc>
              <a:buNone/>
            </a:pPr>
            <a:r>
              <a:rPr lang="en-US" sz="2000" b="1" dirty="0"/>
              <a:t>The Benefit:</a:t>
            </a:r>
          </a:p>
          <a:p>
            <a:pPr lvl="1">
              <a:lnSpc>
                <a:spcPct val="100000"/>
              </a:lnSpc>
            </a:pPr>
            <a:r>
              <a:rPr lang="en-US" sz="1200" b="1" dirty="0"/>
              <a:t>Maximizing High Cohesion:</a:t>
            </a:r>
            <a:r>
              <a:rPr lang="en-US" sz="1200" dirty="0"/>
              <a:t> Isolating distinct responsibilities into separate classes creates highly cohesive modules that are simpler to maintain.</a:t>
            </a:r>
          </a:p>
          <a:p>
            <a:pPr lvl="1">
              <a:lnSpc>
                <a:spcPct val="100000"/>
              </a:lnSpc>
            </a:pPr>
            <a:r>
              <a:rPr lang="en-US" sz="1200" b="1" dirty="0"/>
              <a:t>Blast Radius Protection:</a:t>
            </a:r>
            <a:r>
              <a:rPr lang="en-US" sz="1200" dirty="0"/>
              <a:t> This decoupling prevents a change requested by the Finance department (like updating a tax calculation) from accidentally breaking completely unrelated reporting code used by the HR department.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6" name="Picture 5" descr="Replica Set Replication Flow-2026-06-08-12464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032240" y="1361440"/>
            <a:ext cx="2310232" cy="525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Open/Closed Principle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6873244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/>
              <a:t>The Core Definition: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Meyer's Architectural Axiom:</a:t>
            </a:r>
            <a:r>
              <a:rPr lang="en-US" sz="1000" dirty="0"/>
              <a:t> Bertrand Meyer defines OCP stating that software entities like classes, modules, and functions must be open for extension, but closed for modification.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The Stability Goal:</a:t>
            </a:r>
            <a:r>
              <a:rPr lang="en-US" sz="1000" dirty="0"/>
              <a:t> This foundational concept ensures that core system features remain completely stable and trusted while allowing the application to support new business requirements over time.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Closed for Modification: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Production Integrity Enforcements:</a:t>
            </a:r>
            <a:r>
              <a:rPr lang="en-US" sz="1000" dirty="0"/>
              <a:t> Once a core class is written, unit-tested, and compiled into production, its existing codebase should never be touched or altered to implement a new feature.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Regression Protection:</a:t>
            </a:r>
            <a:r>
              <a:rPr lang="en-US" sz="1000" dirty="0"/>
              <a:t> Lock down existing code mechanics to insulate tested, operational business logic from the accidental introduction of unexpected regression defects.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Open for Extension: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Scale Through Addition:</a:t>
            </a:r>
            <a:r>
              <a:rPr lang="en-US" sz="1000" dirty="0"/>
              <a:t> Introduce new system behaviors and features exclusively by creating new subclasses or implementing existing interfaces.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The New Code Metric:</a:t>
            </a:r>
            <a:r>
              <a:rPr lang="en-US" sz="1000" dirty="0"/>
              <a:t> Scale system capabilities dynamically by writing entirely </a:t>
            </a:r>
            <a:r>
              <a:rPr lang="en-US" sz="1000" i="1" dirty="0"/>
              <a:t>new</a:t>
            </a:r>
            <a:r>
              <a:rPr lang="en-US" sz="1000" dirty="0"/>
              <a:t> isolated files, completely eliminating the need to rewrite or alter </a:t>
            </a:r>
            <a:r>
              <a:rPr lang="en-US" sz="1000" i="1" dirty="0"/>
              <a:t>old</a:t>
            </a:r>
            <a:r>
              <a:rPr lang="en-US" sz="1000" dirty="0"/>
              <a:t> existing code blocks.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The Architectural Mechanism: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Polymorphic Inversion:</a:t>
            </a:r>
            <a:r>
              <a:rPr lang="en-US" sz="1000" dirty="0"/>
              <a:t> This pattern relies entirely on core Polymorphism and Abstraction Layers to decouple the execution flow cleanly.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Stable Contracts:</a:t>
            </a:r>
            <a:r>
              <a:rPr lang="en-US" sz="1000" dirty="0"/>
              <a:t> The calling context depends exclusively on a stable public interface contract, allowing brand-new implementation features to plug directly into that interface layer seamlessly.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11" name="Picture 10" descr="Untitled Diagram.drawio (24)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60323" y="1455652"/>
            <a:ext cx="3835204" cy="540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Liskov</a:t>
            </a:r>
            <a:r>
              <a:rPr lang="en-US" dirty="0"/>
              <a:t> Substitution Principle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dirty="0"/>
              <a:t>The Formal Definition:</a:t>
            </a:r>
          </a:p>
          <a:p>
            <a:pPr lvl="1">
              <a:lnSpc>
                <a:spcPct val="100000"/>
              </a:lnSpc>
            </a:pPr>
            <a:r>
              <a:rPr lang="en-US" sz="1100" b="1" dirty="0"/>
              <a:t>Subtype Substitutability:</a:t>
            </a:r>
            <a:r>
              <a:rPr lang="en-US" sz="1100" dirty="0"/>
              <a:t> Barbara </a:t>
            </a:r>
            <a:r>
              <a:rPr lang="en-US" sz="1100" dirty="0" err="1"/>
              <a:t>Liskov</a:t>
            </a:r>
            <a:r>
              <a:rPr lang="en-US" sz="1100" dirty="0"/>
              <a:t> defines it as: "Subtypes must be substitutable for their base types without altering the correctness of the program."</a:t>
            </a:r>
          </a:p>
          <a:p>
            <a:pPr lvl="1">
              <a:lnSpc>
                <a:spcPct val="100000"/>
              </a:lnSpc>
            </a:pPr>
            <a:r>
              <a:rPr lang="en-US" sz="1100" b="1" dirty="0"/>
              <a:t>The Core Requirement:</a:t>
            </a:r>
            <a:r>
              <a:rPr lang="en-US" sz="1100" dirty="0"/>
              <a:t> A client program must be able to pass any subclass variant into a function without knowing its specific implementation type and without causing a crash.</a:t>
            </a:r>
            <a:endParaRPr lang="en-US" sz="1800" b="1" dirty="0"/>
          </a:p>
          <a:p>
            <a:pPr>
              <a:lnSpc>
                <a:spcPct val="100000"/>
              </a:lnSpc>
              <a:buNone/>
            </a:pPr>
            <a:r>
              <a:rPr lang="en-US" sz="1800" b="1" dirty="0"/>
              <a:t>The Behavioral Contract:</a:t>
            </a:r>
          </a:p>
          <a:p>
            <a:pPr lvl="1">
              <a:lnSpc>
                <a:spcPct val="100000"/>
              </a:lnSpc>
            </a:pPr>
            <a:r>
              <a:rPr lang="en-US" sz="1100" b="1" dirty="0"/>
              <a:t>Honoring Parent Behavior:</a:t>
            </a:r>
            <a:r>
              <a:rPr lang="en-US" sz="1100" dirty="0"/>
              <a:t> Inheriting from a parent class means you must honor behavioral expectations. A subclass cannot arbitrarily choose to reject or break a method inherited from its parent.</a:t>
            </a:r>
            <a:endParaRPr lang="en-US" sz="1800" b="1" dirty="0"/>
          </a:p>
          <a:p>
            <a:pPr>
              <a:lnSpc>
                <a:spcPct val="100000"/>
              </a:lnSpc>
              <a:buNone/>
            </a:pPr>
            <a:r>
              <a:rPr lang="en-US" sz="1800" b="1" dirty="0"/>
              <a:t>The Failure State (Subtype Volatility):</a:t>
            </a:r>
          </a:p>
          <a:p>
            <a:pPr lvl="1">
              <a:lnSpc>
                <a:spcPct val="100000"/>
              </a:lnSpc>
            </a:pPr>
            <a:r>
              <a:rPr lang="en-US" sz="1100" b="1" dirty="0"/>
              <a:t>Runtime Exceptions:</a:t>
            </a:r>
            <a:r>
              <a:rPr lang="en-US" sz="1100" dirty="0"/>
              <a:t> If a subclass throws an unexpected runtime error (like an </a:t>
            </a:r>
            <a:r>
              <a:rPr lang="en-US" sz="1100" dirty="0" err="1"/>
              <a:t>UnsupportedOperationException</a:t>
            </a:r>
            <a:r>
              <a:rPr lang="en-US" sz="1100" dirty="0"/>
              <a:t>) for an inherited method, it breaks the parent's contract.</a:t>
            </a:r>
          </a:p>
          <a:p>
            <a:pPr lvl="1">
              <a:lnSpc>
                <a:spcPct val="100000"/>
              </a:lnSpc>
            </a:pPr>
            <a:r>
              <a:rPr lang="en-US" sz="1100" b="1" dirty="0"/>
              <a:t>The Client Breakage:</a:t>
            </a:r>
            <a:r>
              <a:rPr lang="en-US" sz="1100" dirty="0"/>
              <a:t> The client expects the inherited behavior to execute smoothly. Forcing it to deal with a broken implementation means LSP is violated.</a:t>
            </a:r>
            <a:endParaRPr lang="en-US" sz="1800" b="1" dirty="0"/>
          </a:p>
          <a:p>
            <a:pPr>
              <a:lnSpc>
                <a:spcPct val="100000"/>
              </a:lnSpc>
              <a:buNone/>
            </a:pPr>
            <a:r>
              <a:rPr lang="en-US" sz="1800" b="1" dirty="0"/>
              <a:t>The Classic Bird Violation (The Ostrich Dilemma):</a:t>
            </a:r>
          </a:p>
          <a:p>
            <a:pPr lvl="1">
              <a:lnSpc>
                <a:spcPct val="100000"/>
              </a:lnSpc>
            </a:pPr>
            <a:r>
              <a:rPr lang="en-US" sz="1100" b="1" dirty="0"/>
              <a:t>The Flawed Assumption:</a:t>
            </a:r>
            <a:r>
              <a:rPr lang="en-US" sz="1100" dirty="0"/>
              <a:t> Assuming all birds can fly leads to putting a fly() method in a generic Bird Base Class.</a:t>
            </a:r>
          </a:p>
          <a:p>
            <a:pPr lvl="1">
              <a:lnSpc>
                <a:spcPct val="100000"/>
              </a:lnSpc>
            </a:pPr>
            <a:r>
              <a:rPr lang="en-US" sz="1100" b="1" dirty="0"/>
              <a:t>The Contract Breach:</a:t>
            </a:r>
            <a:r>
              <a:rPr lang="en-US" sz="1100" dirty="0"/>
              <a:t> When an Ostrich Subclass inherits from that base class, it cannot behaviorally implement fly(). It is forced to throw a runtime error, breaking the expectations of any module handling generic birds.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5" name="Content Placeholder 4" descr="Untitled Diagram.drawio (30)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65214" y="817870"/>
            <a:ext cx="9861572" cy="5222261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Interface Segregation Principle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6446524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/>
              <a:t>The Core Definition: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The Client-Centric Rule:</a:t>
            </a:r>
            <a:r>
              <a:rPr lang="en-US" sz="1000" dirty="0"/>
              <a:t> "Clients should not be forced to depend upon interfaces that they do not use."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Eliminating Bloat:</a:t>
            </a:r>
            <a:r>
              <a:rPr lang="en-US" sz="1000" dirty="0"/>
              <a:t> This principle focuses on designing thin, role-specific interfaces rather than forcing implementing classes to inherit behavior they do not require.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The Problem (Fat Interfaces):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Monolithic Abstractions:</a:t>
            </a:r>
            <a:r>
              <a:rPr lang="en-US" sz="1000" dirty="0"/>
              <a:t> When an interface grows too large, it accumulates methods that serve completely different client requirements.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Boilerplate Pollution:</a:t>
            </a:r>
            <a:r>
              <a:rPr lang="en-US" sz="1000" dirty="0"/>
              <a:t> Any class implementing a "fat interface" is forced to write useless boilerplate implementations, often throwing a runtime </a:t>
            </a:r>
            <a:r>
              <a:rPr lang="en-US" sz="1000" dirty="0" err="1"/>
              <a:t>NotImplementedException</a:t>
            </a:r>
            <a:r>
              <a:rPr lang="en-US" sz="1000" dirty="0"/>
              <a:t> or returning null for unsupported operations.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The Structural Harm: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Compile-Time Coupling:</a:t>
            </a:r>
            <a:r>
              <a:rPr lang="en-US" sz="1000" dirty="0"/>
              <a:t> Fat interfaces create unnecessary compile-time dependencies across the system architecture.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The Recompilation Cascade:</a:t>
            </a:r>
            <a:r>
              <a:rPr lang="en-US" sz="1000" dirty="0"/>
              <a:t> If you modify a single method header used only by Client A, every single other client class in the codebase is forced to recompile, completely destroying component isolation.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The Solution: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Role-Based Segregation:</a:t>
            </a:r>
            <a:r>
              <a:rPr lang="en-US" sz="1000" dirty="0"/>
              <a:t> Split fat interfaces into small, highly cohesive, specialized contracts based on the client's actual usage domain.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Decoupled Architecture:</a:t>
            </a:r>
            <a:r>
              <a:rPr lang="en-US" sz="1000" dirty="0"/>
              <a:t> Classes should implement multiple small interfaces instead of one giant interface, ensuring changes to one capability never ripple into an unrelated system module.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6" name="Picture 5" descr="Untitled Diagram.drawio (25)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80031" y="1714500"/>
            <a:ext cx="4631125" cy="47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Dependency Inversion Principle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/>
              <a:t>The Core Definition: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Martin's Decoupling Mandate:</a:t>
            </a:r>
            <a:r>
              <a:rPr lang="en-US" sz="1000" dirty="0"/>
              <a:t> Robert C. Martin dictates two structural laws for DIP: High-level modules must not depend on low-level modules; both must depend strictly on abstractions.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Detail Independence:</a:t>
            </a:r>
            <a:r>
              <a:rPr lang="en-US" sz="1000" dirty="0"/>
              <a:t> Abstractions must never depend on volatile concrete details. Instead, low-level concrete details must depend entirely upon stable, high-level abstractions.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The Traditional Flow of Control (The Trap):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The </a:t>
            </a:r>
            <a:r>
              <a:rPr lang="en-US" sz="1000" b="1" dirty="0" err="1"/>
              <a:t>Hardcoding</a:t>
            </a:r>
            <a:r>
              <a:rPr lang="en-US" sz="1000" b="1" dirty="0"/>
              <a:t> Vulnerability:</a:t>
            </a:r>
            <a:r>
              <a:rPr lang="en-US" sz="1000" dirty="0"/>
              <a:t> In traditional procedural or unmanaged object-oriented code, high-level business policy classes directly instantiate low-level utility components.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Structural Fragility:</a:t>
            </a:r>
            <a:r>
              <a:rPr lang="en-US" sz="1000" dirty="0"/>
              <a:t> Directly </a:t>
            </a:r>
            <a:r>
              <a:rPr lang="en-US" sz="1000" dirty="0" err="1"/>
              <a:t>hardcoding</a:t>
            </a:r>
            <a:r>
              <a:rPr lang="en-US" sz="1000" dirty="0"/>
              <a:t> a production dependency—such as locking a </a:t>
            </a:r>
            <a:r>
              <a:rPr lang="en-US" sz="1000" dirty="0" err="1"/>
              <a:t>NotificationService</a:t>
            </a:r>
            <a:r>
              <a:rPr lang="en-US" sz="1000" dirty="0"/>
              <a:t> to a specific </a:t>
            </a:r>
            <a:r>
              <a:rPr lang="en-US" sz="1000" dirty="0" err="1"/>
              <a:t>MySQLDatabase</a:t>
            </a:r>
            <a:r>
              <a:rPr lang="en-US" sz="1000" dirty="0"/>
              <a:t> instance—renders core business logic fragile and vulnerable to downstream infrastructural changes.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Inverting the Dependency: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Bypassing Direct Links:</a:t>
            </a:r>
            <a:r>
              <a:rPr lang="en-US" sz="1000" dirty="0"/>
              <a:t> Inserting an explicit Abstraction Layer (Interface) between components completely breaks the rigid compile-time coupling.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Inverting System Control:</a:t>
            </a:r>
            <a:r>
              <a:rPr lang="en-US" sz="1000" dirty="0"/>
              <a:t> The high-level policy module assumes complete control over the shape, signature, and contract of the interface, forcing all low-level operational modules to conform to it.</a:t>
            </a:r>
            <a:endParaRPr lang="en-US" sz="1400" b="1" dirty="0"/>
          </a:p>
          <a:p>
            <a:pPr>
              <a:lnSpc>
                <a:spcPct val="110000"/>
              </a:lnSpc>
              <a:buNone/>
            </a:pPr>
            <a:r>
              <a:rPr lang="en-US" sz="1400" b="1" dirty="0"/>
              <a:t>The Architectural Value: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Establishing </a:t>
            </a:r>
            <a:r>
              <a:rPr lang="en-US" sz="1000" b="1" dirty="0" err="1"/>
              <a:t>Pluggability</a:t>
            </a:r>
            <a:r>
              <a:rPr lang="en-US" sz="1000" b="1" dirty="0"/>
              <a:t>:</a:t>
            </a:r>
            <a:r>
              <a:rPr lang="en-US" sz="1000" dirty="0"/>
              <a:t> This inversion establishes a highly modular, pluggable application architecture across the enterprise.</a:t>
            </a:r>
          </a:p>
          <a:p>
            <a:pPr lvl="1">
              <a:lnSpc>
                <a:spcPct val="110000"/>
              </a:lnSpc>
            </a:pPr>
            <a:r>
              <a:rPr lang="en-US" sz="1000" b="1" dirty="0"/>
              <a:t>Insulating Core Logic:</a:t>
            </a:r>
            <a:r>
              <a:rPr lang="en-US" sz="1000" dirty="0"/>
              <a:t> Engineering teams can cleanly hot-swap underlying databases, switch third-party communication APIs, or replace logging frameworks without modifying a single line of core business policy logic.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9" name="Content Placeholder 8" descr="Untitled Diagram.drawio (32)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257606" y="791308"/>
            <a:ext cx="9939204" cy="5418443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38200" y="22277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Phase 4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447733"/>
            <a:ext cx="10713720" cy="998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buNone/>
            </a:pPr>
            <a:r>
              <a:rPr lang="en-US" sz="2800" b="1" dirty="0"/>
              <a:t>Design Patterns &amp; Real World Validation</a:t>
            </a:r>
            <a:endParaRPr lang="en-US" sz="2800" dirty="0"/>
          </a:p>
          <a:p>
            <a:pPr algn="ctr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Creational Blueprints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700532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1" dirty="0"/>
              <a:t>The Problem (The 'new' Keyword Violation):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1200" dirty="0"/>
              <a:t>When you use the new keyword to instantiate a concrete subclass directly inside a client class, you break the Dependency Inversion Principle (DIP).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This direct instantiation tightly couples high-level modules to low-level implementation details, making it impossible to swap out components cleanly.</a:t>
            </a:r>
            <a:endParaRPr lang="en-US" sz="2000" b="1" dirty="0"/>
          </a:p>
          <a:p>
            <a:pPr>
              <a:lnSpc>
                <a:spcPct val="100000"/>
              </a:lnSpc>
              <a:buNone/>
            </a:pPr>
            <a:r>
              <a:rPr lang="en-US" sz="2000" b="1" dirty="0"/>
              <a:t>The Factory Remedy: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1200" dirty="0"/>
              <a:t>The Factory Method Pattern decouples object creation by abstracting the instantiation process away from the client class.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Client code only interacts with a generic, stable interface, while a dedicated factory subclass encapsulates and handles the actual concrete object creation behind the scenes.</a:t>
            </a:r>
            <a:endParaRPr lang="en-US" sz="2000" b="1" dirty="0"/>
          </a:p>
          <a:p>
            <a:pPr>
              <a:lnSpc>
                <a:spcPct val="100000"/>
              </a:lnSpc>
              <a:buNone/>
            </a:pPr>
            <a:r>
              <a:rPr lang="en-US" sz="2000" b="1" dirty="0"/>
              <a:t>The Operational Value: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1200" dirty="0"/>
              <a:t>To introduce a brand-new concrete type to the system, you simply write a new class file and plug it into the factory structure.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The existing client code remains completely untouched and closed for modification, satisfying the Open/Closed Principle (OCP) while scaling application features.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8" name="Picture 7" descr="Untitled Diagram.drawio (11)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01280" y="1422400"/>
            <a:ext cx="3982720" cy="51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Behavioral Blueprints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dirty="0"/>
              <a:t>The Problem (The Open/Closed Violation):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sz="1400" dirty="0"/>
              <a:t>When runtime behavioral algorithms are hardcoded inside massive conditional blocks (if-else or switch statements), the system architecture becomes brittle.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Adding a new business rule forces you to modify the existing host class, violating the Open/Closed Principle (OCP) and risking regression bugs in stable production code.</a:t>
            </a:r>
            <a:endParaRPr lang="en-US" b="1" dirty="0"/>
          </a:p>
          <a:p>
            <a:pPr>
              <a:lnSpc>
                <a:spcPct val="100000"/>
              </a:lnSpc>
              <a:buNone/>
            </a:pPr>
            <a:r>
              <a:rPr lang="en-US" sz="2400" b="1" dirty="0"/>
              <a:t>The Strategy Remedy (Polymorphic Delegation):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sz="1400" dirty="0"/>
              <a:t>The Strategy Pattern defines a family of algorithms, encapsulates each one inside its own dedicated class configuration, and makes them fully interchangeable.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By shifting logic from hardcoded switch-cases into independent strategy classes, the system relies on a shared interface contract to delegate execution at runtime.</a:t>
            </a:r>
            <a:endParaRPr lang="en-US" b="1" dirty="0"/>
          </a:p>
          <a:p>
            <a:pPr>
              <a:lnSpc>
                <a:spcPct val="100000"/>
              </a:lnSpc>
              <a:buNone/>
            </a:pPr>
            <a:r>
              <a:rPr lang="en-US" sz="2400" b="1" dirty="0"/>
              <a:t>The Operational Value (Zero-Modification Scaling):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sz="1400" dirty="0"/>
              <a:t>The host execution context remains entirely decoupled from specific runtime implementation variants.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To add a brand-new algorithm or business rule, you simply create a new strategy class without rewriting a single line of your core logic (OCP), ensuring seamless horizontal scalability.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7" name="Content Placeholder 6" descr="Untitled Diagram.drawio (7)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/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Enterprise Case Studies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dirty="0"/>
              <a:t>The Industrial Transition: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From Academic to Enterprise:</a:t>
            </a:r>
            <a:r>
              <a:rPr lang="en-US" sz="1400" dirty="0"/>
              <a:t> This phase represents the critical shift from single-file academic code submissions toward professional, modular architectures designed for multi-year lifecycles.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Architecture for Longevity:</a:t>
            </a:r>
            <a:r>
              <a:rPr lang="en-US" sz="1400" dirty="0"/>
              <a:t> Professional engineering prioritizes "Infrastructural Agility," ensuring that the codebase can survive shifts in technology stacks, team rotations, and evolving business requirements.</a:t>
            </a:r>
            <a:endParaRPr lang="en-US" b="1" dirty="0"/>
          </a:p>
          <a:p>
            <a:pPr>
              <a:lnSpc>
                <a:spcPct val="100000"/>
              </a:lnSpc>
              <a:buNone/>
            </a:pPr>
            <a:r>
              <a:rPr lang="en-US" sz="2400" b="1" dirty="0"/>
              <a:t>Quantifiable Maintenance ROI: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Reducing Technical Entropy:</a:t>
            </a:r>
            <a:r>
              <a:rPr lang="en-US" sz="1400" dirty="0"/>
              <a:t> Real-world software metrics confirm that wrapping tightly coupled legacy systems in SOLID-compliant boundaries can reduce downstream maintenance overhead and bug density by up to 60%.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The Cost of Rigidity:</a:t>
            </a:r>
            <a:r>
              <a:rPr lang="en-US" sz="1400" dirty="0"/>
              <a:t> By isolating volatile components, enterprises avoid the "Refactoring Debt" that typically consumes 70% of an average IT department's budget.</a:t>
            </a:r>
            <a:endParaRPr lang="en-US" b="1" dirty="0"/>
          </a:p>
          <a:p>
            <a:pPr>
              <a:lnSpc>
                <a:spcPct val="100000"/>
              </a:lnSpc>
              <a:buNone/>
            </a:pPr>
            <a:r>
              <a:rPr lang="en-US" sz="2400" b="1" dirty="0"/>
              <a:t>The Hybrid Migration Strategy: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Isolating Technical Debt:</a:t>
            </a:r>
            <a:r>
              <a:rPr lang="en-US" sz="1400" dirty="0"/>
              <a:t> Avoid high-risk, full-system rewrites that often lead to project failure. Instead, stabilize production platforms by deploying specialized </a:t>
            </a:r>
            <a:r>
              <a:rPr lang="en-US" sz="1400" b="1" dirty="0"/>
              <a:t>Adapter</a:t>
            </a:r>
            <a:r>
              <a:rPr lang="en-US" sz="1400" dirty="0"/>
              <a:t> and </a:t>
            </a:r>
            <a:r>
              <a:rPr lang="en-US" sz="1400" b="1" dirty="0"/>
              <a:t>Facade</a:t>
            </a:r>
            <a:r>
              <a:rPr lang="en-US" sz="1400" dirty="0"/>
              <a:t> patterns.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Legacy Encapsulation:</a:t>
            </a:r>
            <a:r>
              <a:rPr lang="en-US" sz="1400" dirty="0"/>
              <a:t> These patterns act as a "protective layer," isolating legacy technical debt behind stable, modern interfaces, allowing new features to be built with clean, decoupled logic while the old system continues to run.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7" name="Content Placeholder 6" descr="Untitled Diagram.drawio (27)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967131" y="951584"/>
            <a:ext cx="10257738" cy="4990001"/>
          </a:xfr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Seminar Synthesis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 dirty="0"/>
              <a:t>The Architectural Shift: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Deterministic Design:</a:t>
            </a:r>
            <a:r>
              <a:rPr lang="en-US" sz="1400" dirty="0"/>
              <a:t> SOLID design principles systematically turn unpredictable, fragile codebases into deterministic, highly adaptive enterprise software environments.</a:t>
            </a:r>
            <a:endParaRPr lang="en-US" sz="1400" b="1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The Governance Layer: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Non-Negotiable Rules:</a:t>
            </a:r>
            <a:r>
              <a:rPr lang="en-US" sz="1400" dirty="0"/>
              <a:t> Software design principles are not optional stylistic choices; they are crucial engineering laws required to control the long-term compounding cost of code changes.</a:t>
            </a:r>
            <a:endParaRPr lang="en-US" sz="1400" b="1" dirty="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The Final Takeaway: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Clean Boundaries:</a:t>
            </a:r>
            <a:r>
              <a:rPr lang="en-US" sz="1400" dirty="0"/>
              <a:t> Clean architecture separates core high-level business rules from volatile low-level implementation details.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The Continuous Growth Metric:</a:t>
            </a:r>
            <a:r>
              <a:rPr lang="en-US" sz="1400" dirty="0"/>
              <a:t> This separation guarantees that software remains open for business scaling and rapid feature growth, but strictly closed to unexpected regression failures.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pic>
        <p:nvPicPr>
          <p:cNvPr id="6" name="Picture 5" descr="Untitled Diagram.drawio (9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00" y="4950908"/>
            <a:ext cx="9194800" cy="162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1EF3B1-DFD2-C2C9-DFA9-B99FF9F8B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/>
              <a:t>Thank You</a:t>
            </a: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3AB45649-46DB-63EE-0C5A-735D6229B43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FFF6B90-425E-620C-35C1-D917801918D8}"/>
              </a:ext>
            </a:extLst>
          </p:cNvPr>
          <p:cNvSpPr txBox="1"/>
          <p:nvPr/>
        </p:nvSpPr>
        <p:spPr>
          <a:xfrm>
            <a:off x="430823" y="6218705"/>
            <a:ext cx="7411915" cy="375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ea typeface="+mj-lt"/>
                <a:cs typeface="+mj-lt"/>
              </a:rPr>
              <a:t>Engineering Scalable Systems: The Core Principles of LLD and SOLID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EA1CE2E-1203-9DE5-A7BC-89CF2B772871}"/>
              </a:ext>
            </a:extLst>
          </p:cNvPr>
          <p:cNvSpPr txBox="1"/>
          <p:nvPr/>
        </p:nvSpPr>
        <p:spPr>
          <a:xfrm>
            <a:off x="7723226" y="6167801"/>
            <a:ext cx="4137597" cy="456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Prabhu</a:t>
            </a:r>
            <a:r>
              <a:rPr lang="en-US" dirty="0"/>
              <a:t> </a:t>
            </a:r>
            <a:r>
              <a:rPr lang="en-US" dirty="0" err="1"/>
              <a:t>Teja</a:t>
            </a:r>
            <a:r>
              <a:rPr lang="en-US" dirty="0"/>
              <a:t> </a:t>
            </a:r>
            <a:r>
              <a:rPr lang="en-US" dirty="0" err="1"/>
              <a:t>Pamula</a:t>
            </a:r>
            <a:r>
              <a:rPr lang="en-US" dirty="0"/>
              <a:t> | 24EMCA1237</a:t>
            </a:r>
          </a:p>
        </p:txBody>
      </p:sp>
    </p:spTree>
    <p:extLst>
      <p:ext uri="{BB962C8B-B14F-4D97-AF65-F5344CB8AC3E}">
        <p14:creationId xmlns:p14="http://schemas.microsoft.com/office/powerpoint/2010/main" xmlns="" val="312017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1667</TotalTime>
  <Words>3486</Words>
  <Application>Microsoft Office PowerPoint</Application>
  <PresentationFormat>Custom</PresentationFormat>
  <Paragraphs>243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Engineering Scalable Systems: The Core Principles of LLD and SOLID</vt:lpstr>
      <vt:lpstr>Outline</vt:lpstr>
      <vt:lpstr>Outline</vt:lpstr>
      <vt:lpstr>Outline</vt:lpstr>
      <vt:lpstr>Outline</vt:lpstr>
      <vt:lpstr>Phase 1</vt:lpstr>
      <vt:lpstr>The Phenomenon of Software Rot</vt:lpstr>
      <vt:lpstr>Structural Code Failures</vt:lpstr>
      <vt:lpstr>System Boundaries – HLD vs. LLD</vt:lpstr>
      <vt:lpstr>Slide 10</vt:lpstr>
      <vt:lpstr>The Paradox of OOP</vt:lpstr>
      <vt:lpstr>Design Smells</vt:lpstr>
      <vt:lpstr>Slide 13</vt:lpstr>
      <vt:lpstr>Slide 14</vt:lpstr>
      <vt:lpstr>Introduction to SOLID Principles</vt:lpstr>
      <vt:lpstr>Single Responsibility Principle</vt:lpstr>
      <vt:lpstr>Open/Closed Principle</vt:lpstr>
      <vt:lpstr>Liskov Substitution Principle</vt:lpstr>
      <vt:lpstr>Slide 19</vt:lpstr>
      <vt:lpstr>Interface Segregation Principle</vt:lpstr>
      <vt:lpstr>Dependency Inversion Principle</vt:lpstr>
      <vt:lpstr>Slide 22</vt:lpstr>
      <vt:lpstr>Slide 23</vt:lpstr>
      <vt:lpstr>Creational Blueprints</vt:lpstr>
      <vt:lpstr>Behavioral Blueprints</vt:lpstr>
      <vt:lpstr>Slide 26</vt:lpstr>
      <vt:lpstr>Enterprise Case Studies</vt:lpstr>
      <vt:lpstr>Slide 28</vt:lpstr>
      <vt:lpstr>Seminar Synthesis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Scalable Systems: The Core Principles of LLD and SOLID</dc:title>
  <dc:creator/>
  <cp:lastModifiedBy>Shelly Pranuti</cp:lastModifiedBy>
  <cp:revision>234</cp:revision>
  <dcterms:created xsi:type="dcterms:W3CDTF">2026-03-26T20:48:35Z</dcterms:created>
  <dcterms:modified xsi:type="dcterms:W3CDTF">2026-06-30T00:57:25Z</dcterms:modified>
</cp:coreProperties>
</file>