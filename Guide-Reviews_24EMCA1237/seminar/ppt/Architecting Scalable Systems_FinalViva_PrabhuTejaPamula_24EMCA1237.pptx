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92" r:id="rId4"/>
    <p:sldId id="265" r:id="rId5"/>
    <p:sldId id="266" r:id="rId6"/>
    <p:sldId id="277" r:id="rId7"/>
    <p:sldId id="293" r:id="rId8"/>
    <p:sldId id="278" r:id="rId9"/>
    <p:sldId id="279" r:id="rId10"/>
    <p:sldId id="294" r:id="rId11"/>
    <p:sldId id="280" r:id="rId12"/>
    <p:sldId id="281" r:id="rId13"/>
    <p:sldId id="282" r:id="rId14"/>
    <p:sldId id="296" r:id="rId15"/>
    <p:sldId id="283" r:id="rId16"/>
    <p:sldId id="284" r:id="rId17"/>
    <p:sldId id="295" r:id="rId18"/>
    <p:sldId id="287" r:id="rId19"/>
    <p:sldId id="297" r:id="rId20"/>
    <p:sldId id="298" r:id="rId21"/>
    <p:sldId id="291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59" d="100"/>
          <a:sy n="59" d="100"/>
        </p:scale>
        <p:origin x="-39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0B1E15-52DC-FA93-5EDC-0DD2D03C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9161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2400" b="1" dirty="0">
                <a:ea typeface="+mj-lt"/>
                <a:cs typeface="+mj-lt"/>
              </a:rPr>
              <a:t>Engineering Scalable Systems: The Core Principles of LLD and SOLID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27BA5A-FCDD-026C-4548-16053C39D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605192"/>
            <a:ext cx="3233305" cy="19700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Presented by: </a:t>
            </a:r>
          </a:p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Prabhu Teja Pamula 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24EMCA1237</a:t>
            </a: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B98D82D-B30C-3ABD-28CB-C464E815B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7699" y="4432011"/>
            <a:ext cx="3086101" cy="21432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Seminar Guide: </a:t>
            </a:r>
            <a:endParaRPr lang="en-US"/>
          </a:p>
          <a:p>
            <a:pPr marL="0" indent="0">
              <a:buNone/>
            </a:pPr>
            <a:r>
              <a:rPr lang="en-US" b="1">
                <a:latin typeface="Calibri"/>
                <a:ea typeface="Calibri"/>
                <a:cs typeface="Calibri"/>
              </a:rPr>
              <a:t>Dr. Brijendra Singh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sz="1800">
                <a:latin typeface="Calibri"/>
                <a:ea typeface="Calibri"/>
                <a:cs typeface="Calibri"/>
              </a:rPr>
              <a:t>Associate Professor</a:t>
            </a:r>
          </a:p>
          <a:p>
            <a:pPr marL="0" indent="0" algn="r">
              <a:buNone/>
            </a:pPr>
            <a:endParaRPr lang="en-US"/>
          </a:p>
          <a:p>
            <a:pPr marL="0" indent="0" algn="r">
              <a:buNone/>
            </a:pP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AEE31ED-ED9B-5090-0324-D67B1B6FD984}"/>
              </a:ext>
            </a:extLst>
          </p:cNvPr>
          <p:cNvSpPr txBox="1"/>
          <p:nvPr/>
        </p:nvSpPr>
        <p:spPr>
          <a:xfrm>
            <a:off x="371211" y="6038774"/>
            <a:ext cx="17570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/>
              <a:t>Final Viva</a:t>
            </a:r>
            <a:endParaRPr lang="en-US" dirty="0"/>
          </a:p>
          <a:p>
            <a:r>
              <a:rPr lang="en-US" dirty="0" smtClean="0"/>
              <a:t>10 July </a:t>
            </a:r>
            <a:r>
              <a:rPr lang="en-US" dirty="0"/>
              <a:t>2026</a:t>
            </a:r>
          </a:p>
        </p:txBody>
      </p:sp>
      <p:pic>
        <p:nvPicPr>
          <p:cNvPr id="8" name="Picture 7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B529B9D4-FE21-38D0-B570-12FA1A7F04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4F600E18-895D-A6D7-2A0C-7DFCBC01FE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Seminar</a:t>
            </a:r>
          </a:p>
        </p:txBody>
      </p:sp>
    </p:spTree>
    <p:extLst>
      <p:ext uri="{BB962C8B-B14F-4D97-AF65-F5344CB8AC3E}">
        <p14:creationId xmlns:p14="http://schemas.microsoft.com/office/powerpoint/2010/main" xmlns="" val="50540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6FD52B-49E1-8908-DA94-A968BE76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9A153C-0B46-5669-321E-F07DFD0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Architectural Assessment &amp; Problem Domain 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The OOP to SOLID Transition 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The SOLID Engineering Framework 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Design Patterns &amp; Real World Case Studies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 smtClean="0"/>
              <a:t>Conclusion &amp; Takeaways</a:t>
            </a:r>
            <a:endParaRPr lang="en-US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427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7739"/>
            <a:ext cx="10515600" cy="132556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dirty="0"/>
              <a:t>Phase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47733"/>
            <a:ext cx="10515600" cy="998855"/>
          </a:xfrm>
        </p:spPr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en-US" b="1" dirty="0"/>
              <a:t>Architectural Assessment &amp; Problem Domain</a:t>
            </a:r>
            <a:endParaRPr lang="en-US" dirty="0"/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DF4679-47D9-8103-1FD7-E36B2D18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 Domain (Why Code Breaks)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AB8F13-79EB-43CF-3046-69154F0B7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3025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/>
              <a:t>The </a:t>
            </a:r>
            <a:r>
              <a:rPr lang="en-US" sz="1400" b="1" dirty="0" smtClean="0"/>
              <a:t>Big Mistake:</a:t>
            </a:r>
            <a:r>
              <a:rPr lang="en-US" sz="1400" dirty="0" smtClean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 smtClean="0"/>
              <a:t>	</a:t>
            </a:r>
            <a:r>
              <a:rPr lang="en-US" sz="1400" dirty="0" smtClean="0"/>
              <a:t>Many developers think that if their code runs without errors today, it is perfect. </a:t>
            </a:r>
            <a:endParaRPr lang="en-US" sz="1400" b="1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Rushed Work:</a:t>
            </a:r>
          </a:p>
          <a:p>
            <a:pPr>
              <a:lnSpc>
                <a:spcPct val="150000"/>
              </a:lnSpc>
              <a:buNone/>
            </a:pPr>
            <a:r>
              <a:rPr lang="en-IN" sz="1400" b="1" dirty="0" smtClean="0"/>
              <a:t>	</a:t>
            </a:r>
            <a:r>
              <a:rPr lang="en-US" sz="1400" dirty="0" smtClean="0"/>
              <a:t>When deadlines are tight, developers write messy code just to get the job done quickly.</a:t>
            </a:r>
            <a:endParaRPr lang="en-US" sz="1400" b="1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Technical Debt: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 smtClean="0"/>
              <a:t>	</a:t>
            </a:r>
            <a:r>
              <a:rPr lang="en-US" sz="1400" dirty="0" smtClean="0"/>
              <a:t>Taking shortcuts is like borrowing money. It helps you finish fast today, but you spend all your time fixing bugs later. </a:t>
            </a:r>
            <a:endParaRPr lang="en-US" sz="1400" dirty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Result: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A simple change that should take one hour ends up taking days because the code is a mess. 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49E90F83-7505-05E0-1500-A9AB0CBD686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007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Rigid vs. Fragile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47841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Rigid Code (Too Stiff):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The code is so stiff that making a small change in one file forces you to change ten other files.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Fragile Code (Too Unstable):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The system breaks easily. You fix a bug in the Login screen, and the Payment screen randomly crashes.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High Coupling (Glued Together):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This happens because different parts of the code are tightly glued together instead of being independent pieces.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High Level vs. Low Level Design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825625"/>
            <a:ext cx="10521466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High Level Design (HLD):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This is the big map of the project. It deals with server hosting, networks, and choosing our database.</a:t>
            </a:r>
            <a:r>
              <a:rPr lang="en-US" sz="1400" b="1" dirty="0" smtClean="0"/>
              <a:t>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Low Level Design (LLD):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This is the internal code level. It defines exactly how our coding classes and files talk to each other.</a:t>
            </a:r>
            <a:r>
              <a:rPr lang="en-US" sz="1400" b="1" dirty="0" smtClean="0"/>
              <a:t>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Main Boundary: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Good server infrastructure cannot save a project if the underlying code is a messy, unmanageable mix.</a:t>
            </a:r>
            <a:r>
              <a:rPr lang="en-US" sz="1400" b="1" dirty="0" smtClean="0"/>
              <a:t> 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2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51560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 smtClean="0"/>
              <a:t>The </a:t>
            </a:r>
            <a:r>
              <a:rPr lang="en-US" sz="2800" b="1" dirty="0"/>
              <a:t>OOP to SOLID </a:t>
            </a:r>
            <a:r>
              <a:rPr lang="en-US" sz="2800" b="1" dirty="0" smtClean="0"/>
              <a:t>Transition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Paradox of OOP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5" y="1825625"/>
            <a:ext cx="1053905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Inheritance Trap: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Many developers use inheritance as a lazy shortcut just to reuse code, which is a mistake.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Parent-Child Issue: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 	</a:t>
            </a:r>
            <a:r>
              <a:rPr lang="en-US" sz="1400" dirty="0" smtClean="0"/>
              <a:t>A tiny change in the top parent class can easily break dozens of child classes down the line.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Bad Encapsulation: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	</a:t>
            </a:r>
            <a:r>
              <a:rPr lang="en-US" sz="1400" dirty="0" smtClean="0"/>
              <a:t>Creating public Getters and Setters for every single variable leaks data and ruins code security. </a:t>
            </a:r>
            <a:endParaRPr lang="en-US" sz="10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Code Design Smells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4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What is a Smell?: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A design smell is not a compiler error or a crash. It is a warning sign that your code structure is getting messy.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Stiff Code (Inelasticity):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The code is hard and stubborn. It refuses to stretch or change when you try to add a new feature.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Trapped Code (Immobility):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A good feature, like a login screen, is so glued to local files that you cannot copy and reuse it in a new project.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Lazy Way (Viscosity):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The coding environment makes it faster and easier for a developer to write a messy hack than to write clean code. 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3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51560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/>
              <a:t>The SOLID Engineering Framework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 to SOLID Principles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5" y="1825625"/>
            <a:ext cx="105126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Missing Rules: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Basic OOP gives us coding blocks, but it does not give us standard rules on how to safely connect them.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Main Goal: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The entire point of the SOLID framework is to limit the blast radius of a code change.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Long Term Speed: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It ensures that adding a new feature or fixing a bug in one place never ripples outward to break unrelated modules. 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Single Responsibility </a:t>
            </a:r>
            <a:r>
              <a:rPr lang="en-US" dirty="0" smtClean="0"/>
              <a:t>Principle (SRP)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5" y="1825625"/>
            <a:ext cx="105478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Basic Rule: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A single coding class should be responsible to one, and only one, business user or actor.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Mistake: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Creating a giant "God Class" that handles payroll for Finance, saves data for DBAs, and makes reports for HR.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Fix: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We break it into three separate files so a change requested by Finance never accidentally breaks HR's reporting code. 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Open/Closed </a:t>
            </a:r>
            <a:r>
              <a:rPr lang="en-US" dirty="0" smtClean="0"/>
              <a:t>Principle (OCP)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2146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Main Idea: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Your software files should be open for extension, but completely closed for modification.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Closed for Modification: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Once a core code file is written, tested, and running in production, you should never touch or alter its existing code to add a new feature.  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Open for Extension: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To add a brand-new feature, you should write an entirely new, separate file or class that plugs into the old code safely. </a:t>
            </a:r>
            <a:endParaRPr lang="en-US" sz="10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Liskov</a:t>
            </a:r>
            <a:r>
              <a:rPr lang="en-US" dirty="0"/>
              <a:t> Substitution </a:t>
            </a:r>
            <a:r>
              <a:rPr lang="en-US" dirty="0" smtClean="0"/>
              <a:t>Principle (LSP)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1" dirty="0" smtClean="0"/>
              <a:t>The Main Idea: </a:t>
            </a:r>
          </a:p>
          <a:p>
            <a:pPr>
              <a:lnSpc>
                <a:spcPct val="100000"/>
              </a:lnSpc>
              <a:buNone/>
            </a:pPr>
            <a:r>
              <a:rPr lang="en-US" sz="1800" dirty="0" smtClean="0"/>
              <a:t>	Any replacement part you plug into a system must work exactly like the original part without causing a breakdown.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 smtClean="0"/>
              <a:t>The Rule: </a:t>
            </a:r>
          </a:p>
          <a:p>
            <a:pPr>
              <a:lnSpc>
                <a:spcPct val="100000"/>
              </a:lnSpc>
              <a:buNone/>
            </a:pPr>
            <a:r>
              <a:rPr lang="en-US" sz="1800" dirty="0" smtClean="0"/>
              <a:t>	A child piece of code must honor all the rules and expectations set by its parent piece of code.</a:t>
            </a:r>
            <a:endParaRPr lang="en-US" sz="1100" dirty="0"/>
          </a:p>
          <a:p>
            <a:pPr>
              <a:lnSpc>
                <a:spcPct val="100000"/>
              </a:lnSpc>
              <a:buNone/>
            </a:pPr>
            <a:r>
              <a:rPr lang="en-US" sz="1800" b="1" dirty="0" smtClean="0"/>
              <a:t>The Mistake:</a:t>
            </a:r>
          </a:p>
          <a:p>
            <a:pPr>
              <a:lnSpc>
                <a:spcPct val="100000"/>
              </a:lnSpc>
              <a:buNone/>
            </a:pPr>
            <a:r>
              <a:rPr lang="en-US" sz="1800" dirty="0" smtClean="0"/>
              <a:t>	You have a parent class called </a:t>
            </a:r>
            <a:r>
              <a:rPr lang="en-US" sz="1800" dirty="0" err="1" smtClean="0"/>
              <a:t>PaymentProcessor</a:t>
            </a:r>
            <a:r>
              <a:rPr lang="en-US" sz="1800" dirty="0" smtClean="0"/>
              <a:t> with a process() function. If you add a new child class called </a:t>
            </a:r>
            <a:r>
              <a:rPr lang="en-US" sz="1800" dirty="0" err="1" smtClean="0"/>
              <a:t>CashPayment</a:t>
            </a:r>
            <a:r>
              <a:rPr lang="en-US" sz="1800" dirty="0" smtClean="0"/>
              <a:t> that throws a </a:t>
            </a:r>
            <a:r>
              <a:rPr lang="en-US" sz="1800" dirty="0" err="1" smtClean="0"/>
              <a:t>NotSupportedException</a:t>
            </a:r>
            <a:r>
              <a:rPr lang="en-US" sz="1800" dirty="0" smtClean="0"/>
              <a:t> because cash cannot be processed online, you break LSP and crash the app.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Interface Segregation </a:t>
            </a:r>
            <a:r>
              <a:rPr lang="en-US" dirty="0" smtClean="0"/>
              <a:t>Principle (ISP)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5" y="1825625"/>
            <a:ext cx="105478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Main Idea: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A class should never be forced to depend on or implement coding methods that it does not use.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Mistake (Interface Pollution):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You create a giant interface called Worker with two functions: work() and eat(). When you build a Robot class that uses this interface, you are forced to write an empty eat() function that the robot doesn't need.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Clean Fix: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We slice the giant interface into two smaller, specific interfaces: Workable and </a:t>
            </a:r>
            <a:r>
              <a:rPr lang="en-US" sz="1400" dirty="0" err="1" smtClean="0"/>
              <a:t>Feedable</a:t>
            </a:r>
            <a:r>
              <a:rPr lang="en-US" sz="1400" dirty="0" smtClean="0"/>
              <a:t>. The Robot class now only implements Workable, keeping it lightweight and free of junk code.</a:t>
            </a:r>
            <a:endParaRPr lang="en-US" sz="10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Dependency Inversion </a:t>
            </a:r>
            <a:r>
              <a:rPr lang="en-US" dirty="0" smtClean="0"/>
              <a:t>Principle (DIP)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Main Idea: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High level code logic should not depend directly on low-level code details. Both should depend on abstract interfaces.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Mistake (Tight Coupling):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A high level </a:t>
            </a:r>
            <a:r>
              <a:rPr lang="en-US" sz="1400" dirty="0" err="1" smtClean="0"/>
              <a:t>PasswordReset</a:t>
            </a:r>
            <a:r>
              <a:rPr lang="en-US" sz="1400" dirty="0" smtClean="0"/>
              <a:t> class directly depends on a low level </a:t>
            </a:r>
            <a:r>
              <a:rPr lang="en-US" sz="1400" dirty="0" err="1" smtClean="0"/>
              <a:t>GmailService</a:t>
            </a:r>
            <a:r>
              <a:rPr lang="en-US" sz="1400" dirty="0" smtClean="0"/>
              <a:t> class to send emails. If you decide to switch to </a:t>
            </a:r>
            <a:r>
              <a:rPr lang="en-US" sz="1400" dirty="0" err="1" smtClean="0"/>
              <a:t>OutlookService</a:t>
            </a:r>
            <a:r>
              <a:rPr lang="en-US" sz="1400" dirty="0" smtClean="0"/>
              <a:t> next month, you have to rewrite your core password reset logic, which risks introducing bugs.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Clean Fix: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We introduce an </a:t>
            </a:r>
            <a:r>
              <a:rPr lang="en-US" sz="1400" dirty="0" err="1" smtClean="0"/>
              <a:t>EmailSender</a:t>
            </a:r>
            <a:r>
              <a:rPr lang="en-US" sz="1400" dirty="0" smtClean="0"/>
              <a:t> interface in the middle. Now, </a:t>
            </a:r>
            <a:r>
              <a:rPr lang="en-US" sz="1400" dirty="0" err="1" smtClean="0"/>
              <a:t>PasswordReset</a:t>
            </a:r>
            <a:r>
              <a:rPr lang="en-US" sz="1400" dirty="0" smtClean="0"/>
              <a:t> only talks to the interface, and both </a:t>
            </a:r>
            <a:r>
              <a:rPr lang="en-US" sz="1400" dirty="0" err="1" smtClean="0"/>
              <a:t>GmailService</a:t>
            </a:r>
            <a:r>
              <a:rPr lang="en-US" sz="1400" dirty="0" smtClean="0"/>
              <a:t> and </a:t>
            </a:r>
            <a:r>
              <a:rPr lang="en-US" sz="1400" dirty="0" err="1" smtClean="0"/>
              <a:t>OutlookService</a:t>
            </a:r>
            <a:r>
              <a:rPr lang="en-US" sz="1400" dirty="0" smtClean="0"/>
              <a:t> implement that interface. This decouples the classes entirely.</a:t>
            </a:r>
            <a:endParaRPr lang="en-US" sz="10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D9F89D30-BF79-9EC8-AADC-8361E39744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22277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Phase 4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47733"/>
            <a:ext cx="10713720" cy="99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en-US" sz="2800" b="1" dirty="0" smtClean="0"/>
              <a:t>Design Patterns &amp; Real World Case Studies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Strategy Design Pattern (Behavioral)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Category: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Behavioral Pattern, focuses on how objects communicate and swap responsibilities at runtime.</a:t>
            </a:r>
            <a:endParaRPr lang="en-US" sz="1400" b="1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Main Idea: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Defines a family of interchangeable algorithms and encapsulates each one inside a separate class so they can be swapped dynamically.</a:t>
            </a:r>
            <a:endParaRPr lang="en-US" sz="1400" b="1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Mistake: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Using giant, nested if-else or switch statements inside a core class to handle different behaviors, like calculating shipping costs for different regions. Adding a new region forces you to rewrite and re-test the entire class.</a:t>
            </a:r>
            <a:endParaRPr lang="en-US" sz="1400" b="1" dirty="0" smtClean="0"/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Clean Fix: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Create a common </a:t>
            </a:r>
            <a:r>
              <a:rPr lang="en-US" sz="1400" dirty="0" err="1" smtClean="0"/>
              <a:t>ShippingStrategy</a:t>
            </a:r>
            <a:r>
              <a:rPr lang="en-US" sz="1400" dirty="0" smtClean="0"/>
              <a:t> interface and build separate classes like </a:t>
            </a:r>
            <a:r>
              <a:rPr lang="en-US" sz="1400" dirty="0" err="1" smtClean="0"/>
              <a:t>USShipping</a:t>
            </a:r>
            <a:r>
              <a:rPr lang="en-US" sz="1400" dirty="0" smtClean="0"/>
              <a:t> and </a:t>
            </a:r>
            <a:r>
              <a:rPr lang="en-US" sz="1400" dirty="0" err="1" smtClean="0"/>
              <a:t>EUShipping</a:t>
            </a:r>
            <a:r>
              <a:rPr lang="en-US" sz="1400" dirty="0" smtClean="0"/>
              <a:t> that implement it. The core system just calls the interface, letting you add new regions without touching old code.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Factory Method Pattern (Creational)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5" y="1825625"/>
            <a:ext cx="10539051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Category: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Creational Pattern, focuses on how objects are created safely behind the scenes.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Main Idea: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Provides a centralized way to create objects without exposing the exact instantiation logic to the main application.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Mistake: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</a:t>
            </a:r>
            <a:r>
              <a:rPr lang="en-US" sz="1400" dirty="0" err="1" smtClean="0"/>
              <a:t>Hardcoding</a:t>
            </a:r>
            <a:r>
              <a:rPr lang="en-US" sz="1400" dirty="0" smtClean="0"/>
              <a:t> the new keyword inside your business logic to create database connections (like new </a:t>
            </a:r>
            <a:r>
              <a:rPr lang="en-US" sz="1400" dirty="0" err="1" smtClean="0"/>
              <a:t>MySQLDatabase</a:t>
            </a:r>
            <a:r>
              <a:rPr lang="en-US" sz="1400" dirty="0" smtClean="0"/>
              <a:t>()). If the company switches to </a:t>
            </a:r>
            <a:r>
              <a:rPr lang="en-US" sz="1400" dirty="0" err="1" smtClean="0"/>
              <a:t>MongoDB</a:t>
            </a:r>
            <a:r>
              <a:rPr lang="en-US" sz="1400" dirty="0" smtClean="0"/>
              <a:t>, you have to hunt down and manually change every single file that hardcoded that database creation.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Clean Fix: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Create a central </a:t>
            </a:r>
            <a:r>
              <a:rPr lang="en-US" sz="1400" dirty="0" err="1" smtClean="0"/>
              <a:t>DatabaseFactory</a:t>
            </a:r>
            <a:r>
              <a:rPr lang="en-US" sz="1400" dirty="0" smtClean="0"/>
              <a:t> class. The main system simply asks this factory to give it a database connection. Changing the database type now only requires updating one line of code inside the factory.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Observer Design Pattern (Behavioral)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5" y="1825625"/>
            <a:ext cx="10539051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300" b="1" dirty="0" smtClean="0"/>
              <a:t>The Category: </a:t>
            </a:r>
          </a:p>
          <a:p>
            <a:pPr>
              <a:lnSpc>
                <a:spcPct val="150000"/>
              </a:lnSpc>
              <a:buNone/>
            </a:pPr>
            <a:r>
              <a:rPr lang="en-US" sz="1300" dirty="0" smtClean="0"/>
              <a:t>	Behavioral Pattern, focuses on real time decoupling and how objects notify each other about state changes.</a:t>
            </a:r>
          </a:p>
          <a:p>
            <a:pPr>
              <a:lnSpc>
                <a:spcPct val="150000"/>
              </a:lnSpc>
              <a:buNone/>
            </a:pPr>
            <a:r>
              <a:rPr lang="en-US" sz="1300" b="1" dirty="0" smtClean="0"/>
              <a:t>The Main Idea:</a:t>
            </a:r>
          </a:p>
          <a:p>
            <a:pPr>
              <a:lnSpc>
                <a:spcPct val="150000"/>
              </a:lnSpc>
              <a:buNone/>
            </a:pPr>
            <a:r>
              <a:rPr lang="en-US" sz="1300" dirty="0" smtClean="0"/>
              <a:t>	Defines a one-to-many dependency where one central object (the Subject) automatically notifies all of its registered dependents (the Observers) whenever its state changes.</a:t>
            </a:r>
          </a:p>
          <a:p>
            <a:pPr>
              <a:lnSpc>
                <a:spcPct val="150000"/>
              </a:lnSpc>
              <a:buNone/>
            </a:pPr>
            <a:r>
              <a:rPr lang="en-US" sz="1300" b="1" dirty="0" smtClean="0"/>
              <a:t>The Mistake: </a:t>
            </a:r>
          </a:p>
          <a:p>
            <a:pPr>
              <a:lnSpc>
                <a:spcPct val="150000"/>
              </a:lnSpc>
              <a:buNone/>
            </a:pPr>
            <a:r>
              <a:rPr lang="en-US" sz="1300" dirty="0" smtClean="0"/>
              <a:t>	Tightly coupling notification tasks inside your core logic. For example, when a user registers, the </a:t>
            </a:r>
            <a:r>
              <a:rPr lang="en-US" sz="1300" dirty="0" err="1" smtClean="0"/>
              <a:t>UserAccount</a:t>
            </a:r>
            <a:r>
              <a:rPr lang="en-US" sz="1300" dirty="0" smtClean="0"/>
              <a:t> class directly calls </a:t>
            </a:r>
            <a:r>
              <a:rPr lang="en-US" sz="1300" dirty="0" err="1" smtClean="0"/>
              <a:t>EmailService.send</a:t>
            </a:r>
            <a:r>
              <a:rPr lang="en-US" sz="1300" dirty="0" smtClean="0"/>
              <a:t>(), </a:t>
            </a:r>
            <a:r>
              <a:rPr lang="en-US" sz="1300" dirty="0" err="1" smtClean="0"/>
              <a:t>SmsService.send</a:t>
            </a:r>
            <a:r>
              <a:rPr lang="en-US" sz="1300" dirty="0" smtClean="0"/>
              <a:t>(), and DatabaseLogger.log(). If you want to add mobile Push Notifications later, you must rewrite and re test the core registration class.</a:t>
            </a:r>
          </a:p>
          <a:p>
            <a:pPr>
              <a:lnSpc>
                <a:spcPct val="150000"/>
              </a:lnSpc>
              <a:buNone/>
            </a:pPr>
            <a:r>
              <a:rPr lang="en-US" sz="1300" b="1" dirty="0" smtClean="0"/>
              <a:t>The Clean Fix:</a:t>
            </a:r>
          </a:p>
          <a:p>
            <a:pPr>
              <a:lnSpc>
                <a:spcPct val="150000"/>
              </a:lnSpc>
              <a:buNone/>
            </a:pPr>
            <a:r>
              <a:rPr lang="en-US" sz="1300" dirty="0" smtClean="0"/>
              <a:t>	Create an Observer interface that all notification services implement. The </a:t>
            </a:r>
            <a:r>
              <a:rPr lang="en-US" sz="1300" dirty="0" err="1" smtClean="0"/>
              <a:t>UserAccount</a:t>
            </a:r>
            <a:r>
              <a:rPr lang="en-US" sz="1300" dirty="0" smtClean="0"/>
              <a:t> class simply keeps a list of these observers and loops through them to notify them. You can plug in new notification channels (like Push Notifications) dynamically without changing the core registration file.</a:t>
            </a:r>
            <a:endParaRPr lang="en-US" sz="13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ADF50F-696A-9689-D891-034B6006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Conclusion &amp; Takeaways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6EFF90-EAF7-AE47-195A-ABD6B09F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Big Picture: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Implementing SOLID principles and Design Patterns isn't about writing more code, it is about writing code that is cheap to change and easy to maintain.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Key Project Result: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By decoupling our components (like using Factories and Strategies), we transformed a rigid codebase into an extensible system where new features can be added without breaking old ones.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 smtClean="0"/>
              <a:t>The Golden Rule: 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	Never over engineer on day one. Use these principles when your code starts growing, when a file gets too large, or when you notice tight coupling between classes.</a:t>
            </a:r>
            <a:endParaRPr lang="en-US" sz="1400" dirty="0"/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CA83E2E8-8155-C364-6AFB-DE4957DA57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263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1EF3B1-DFD2-C2C9-DFA9-B99FF9F8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/>
              <a:t>Thank You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3AB45649-46DB-63EE-0C5A-735D6229B4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4305" y="168413"/>
            <a:ext cx="861392" cy="861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FFF6B90-425E-620C-35C1-D917801918D8}"/>
              </a:ext>
            </a:extLst>
          </p:cNvPr>
          <p:cNvSpPr txBox="1"/>
          <p:nvPr/>
        </p:nvSpPr>
        <p:spPr>
          <a:xfrm>
            <a:off x="430823" y="6218705"/>
            <a:ext cx="7411915" cy="375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ea typeface="+mj-lt"/>
                <a:cs typeface="+mj-lt"/>
              </a:rPr>
              <a:t>Engineering Scalable Systems: The Core Principles of LLD and SOLID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EA1CE2E-1203-9DE5-A7BC-89CF2B772871}"/>
              </a:ext>
            </a:extLst>
          </p:cNvPr>
          <p:cNvSpPr txBox="1"/>
          <p:nvPr/>
        </p:nvSpPr>
        <p:spPr>
          <a:xfrm>
            <a:off x="7723226" y="6167801"/>
            <a:ext cx="4137597" cy="456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Prabhu</a:t>
            </a:r>
            <a:r>
              <a:rPr lang="en-US" dirty="0"/>
              <a:t> </a:t>
            </a:r>
            <a:r>
              <a:rPr lang="en-US" dirty="0" err="1"/>
              <a:t>Teja</a:t>
            </a:r>
            <a:r>
              <a:rPr lang="en-US" dirty="0"/>
              <a:t> </a:t>
            </a:r>
            <a:r>
              <a:rPr lang="en-US" dirty="0" err="1"/>
              <a:t>Pamula</a:t>
            </a:r>
            <a:r>
              <a:rPr lang="en-US" dirty="0"/>
              <a:t> | 24EMCA1237</a:t>
            </a:r>
          </a:p>
        </p:txBody>
      </p:sp>
    </p:spTree>
    <p:extLst>
      <p:ext uri="{BB962C8B-B14F-4D97-AF65-F5344CB8AC3E}">
        <p14:creationId xmlns:p14="http://schemas.microsoft.com/office/powerpoint/2010/main" xmlns="" val="31201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1810</TotalTime>
  <Words>247</Words>
  <Application>Microsoft Office PowerPoint</Application>
  <PresentationFormat>Custom</PresentationFormat>
  <Paragraphs>142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Engineering Scalable Systems: The Core Principles of LLD and SOLID</vt:lpstr>
      <vt:lpstr>Outline</vt:lpstr>
      <vt:lpstr>Phase 1</vt:lpstr>
      <vt:lpstr>Problem Domain (Why Code Breaks)</vt:lpstr>
      <vt:lpstr>Rigid vs. Fragile Code</vt:lpstr>
      <vt:lpstr>High Level vs. Low Level Design</vt:lpstr>
      <vt:lpstr>Slide 7</vt:lpstr>
      <vt:lpstr>The Paradox of OOP</vt:lpstr>
      <vt:lpstr>Code Design Smells</vt:lpstr>
      <vt:lpstr>Slide 10</vt:lpstr>
      <vt:lpstr>Introduction to SOLID Principles</vt:lpstr>
      <vt:lpstr>Single Responsibility Principle (SRP)</vt:lpstr>
      <vt:lpstr>Open/Closed Principle (OCP)</vt:lpstr>
      <vt:lpstr>Liskov Substitution Principle (LSP)</vt:lpstr>
      <vt:lpstr>Interface Segregation Principle (ISP)</vt:lpstr>
      <vt:lpstr>Dependency Inversion Principle (DIP)</vt:lpstr>
      <vt:lpstr>Slide 17</vt:lpstr>
      <vt:lpstr>Strategy Design Pattern (Behavioral)</vt:lpstr>
      <vt:lpstr>Factory Method Pattern (Creational)</vt:lpstr>
      <vt:lpstr>Observer Design Pattern (Behavioral)</vt:lpstr>
      <vt:lpstr>Conclusion &amp; Takeaways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Scalable Systems: The Core Principles of LLD and SOLID</dc:title>
  <dc:creator/>
  <cp:lastModifiedBy>Shelly Pranuti</cp:lastModifiedBy>
  <cp:revision>254</cp:revision>
  <dcterms:created xsi:type="dcterms:W3CDTF">2026-03-26T20:48:35Z</dcterms:created>
  <dcterms:modified xsi:type="dcterms:W3CDTF">2026-07-09T18:57:01Z</dcterms:modified>
</cp:coreProperties>
</file>