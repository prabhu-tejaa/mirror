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4" r:id="rId3"/>
    <p:sldId id="262" r:id="rId4"/>
    <p:sldId id="263" r:id="rId5"/>
    <p:sldId id="272" r:id="rId6"/>
    <p:sldId id="268" r:id="rId7"/>
    <p:sldId id="269" r:id="rId8"/>
    <p:sldId id="2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BC9E70-9DF9-477D-E749-D2195C619A51}" v="994" dt="2026-03-25T22:29:53.598"/>
    <p1510:client id="{43C864F2-0BBB-BFA6-527E-CD528C0E7CC4}" v="16" dt="2026-03-27T07:52:23.614"/>
    <p1510:client id="{61E7997F-AA79-68D5-6F13-C522EA8A8835}" v="337" dt="2026-03-26T08:11:29.621"/>
    <p1510:client id="{7CDD80BF-8307-79CF-A85A-5D31041A1110}" v="99" dt="2026-03-26T20:19:56.971"/>
    <p1510:client id="{92E1C9FF-B287-EE43-AC41-F7D9F9B2A34C}" v="14" dt="2026-03-27T22:10:23.678"/>
    <p1510:client id="{C0E84209-0DD8-F3CC-4B38-E32C62454442}" v="5" dt="2026-03-26T08:12:50.030"/>
    <p1510:client id="{D4C5E3BF-17EC-31DC-E552-FECAB8F74E8B}" v="3" dt="2026-03-26T08:29:31.809"/>
    <p1510:client id="{DA063BAB-7339-62E3-24DD-90A712C71FAB}" v="2" dt="2026-03-26T08:41:24.284"/>
    <p1510:client id="{E1DC653E-FC6C-5047-E537-59EC81AB8AEE}" v="14" dt="2026-03-26T21:01:01.235"/>
    <p1510:client id="{E33CE4E6-4428-AF69-63BD-F08168BC66E1}" v="25" dt="2026-03-26T08:24:31.8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691" y="-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bhu-tejaa/MIRROR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github.com/prabhu-tejaa/MIRROR/releases" TargetMode="External"/><Relationship Id="rId4" Type="http://schemas.openxmlformats.org/officeDocument/2006/relationships/hyperlink" Target="https://projectmirror.tech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20B1E15-52DC-FA93-5EDC-0DD2D03C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6602"/>
            <a:ext cx="10515600" cy="1325563"/>
          </a:xfrm>
        </p:spPr>
        <p:txBody>
          <a:bodyPr/>
          <a:lstStyle/>
          <a:p>
            <a:pPr algn="ctr">
              <a:spcBef>
                <a:spcPts val="1000"/>
              </a:spcBef>
            </a:pPr>
            <a:r>
              <a:rPr lang="en-US" b="1" dirty="0">
                <a:ea typeface="+mj-lt"/>
                <a:cs typeface="+mj-lt"/>
              </a:rPr>
              <a:t>MIRЯOЯ</a:t>
            </a:r>
          </a:p>
          <a:p>
            <a:pPr algn="ctr">
              <a:spcBef>
                <a:spcPts val="1000"/>
              </a:spcBef>
            </a:pPr>
            <a:r>
              <a:rPr lang="en-US" sz="2800" dirty="0">
                <a:latin typeface="Aptos"/>
              </a:rPr>
              <a:t>An AI Powered Memory and Emotional Analytics System</a:t>
            </a:r>
          </a:p>
        </p:txBody>
      </p:sp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="" xmlns:a16="http://schemas.microsoft.com/office/drawing/2014/main" id="{B529B9D4-FE21-38D0-B570-12FA1A7F049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="" xmlns:a16="http://schemas.microsoft.com/office/drawing/2014/main" id="{AC281326-64B2-DBD9-01F6-C292DC1BE5B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ea typeface="+mj-lt"/>
                <a:cs typeface="+mj-lt"/>
              </a:rPr>
              <a:t>Project</a:t>
            </a:r>
            <a:endParaRPr lang="en-US" dirty="0"/>
          </a:p>
        </p:txBody>
      </p:sp>
      <p:sp>
        <p:nvSpPr>
          <p:cNvPr id="5" name="TextBox 5">
            <a:extLst>
              <a:ext uri="{FF2B5EF4-FFF2-40B4-BE49-F238E27FC236}">
                <a16:creationId xmlns="" xmlns:a16="http://schemas.microsoft.com/office/drawing/2014/main" id="{4AEE31ED-ED9B-5090-0324-D67B1B6FD984}"/>
              </a:ext>
            </a:extLst>
          </p:cNvPr>
          <p:cNvSpPr txBox="1"/>
          <p:nvPr/>
        </p:nvSpPr>
        <p:spPr>
          <a:xfrm>
            <a:off x="371211" y="6215082"/>
            <a:ext cx="1757043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smtClean="0"/>
              <a:t>Final Viva</a:t>
            </a:r>
            <a:endParaRPr lang="en-US" sz="1400" dirty="0"/>
          </a:p>
          <a:p>
            <a:r>
              <a:rPr lang="en-US" sz="1400" dirty="0" smtClean="0"/>
              <a:t>10</a:t>
            </a:r>
            <a:r>
              <a:rPr lang="en-US" sz="1400" dirty="0" smtClean="0"/>
              <a:t> July </a:t>
            </a:r>
            <a:r>
              <a:rPr lang="en-US" sz="1400" dirty="0"/>
              <a:t>2026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="" xmlns:a16="http://schemas.microsoft.com/office/drawing/2014/main" id="{6E27BA5A-FCDD-026C-4548-16053C39D2C5}"/>
              </a:ext>
            </a:extLst>
          </p:cNvPr>
          <p:cNvSpPr>
            <a:spLocks noGrp="1"/>
          </p:cNvSpPr>
          <p:nvPr/>
        </p:nvSpPr>
        <p:spPr>
          <a:xfrm>
            <a:off x="838200" y="4605192"/>
            <a:ext cx="3233305" cy="19700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Presented by: </a:t>
            </a:r>
          </a:p>
          <a:p>
            <a:pPr marL="0" indent="0">
              <a:buNone/>
            </a:pPr>
            <a:r>
              <a:rPr lang="en-US" b="1" dirty="0" err="1">
                <a:latin typeface="Calibri"/>
                <a:ea typeface="Calibri"/>
                <a:cs typeface="Calibri"/>
              </a:rPr>
              <a:t>Prabhu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b="1" dirty="0" err="1">
                <a:latin typeface="Calibri"/>
                <a:ea typeface="Calibri"/>
                <a:cs typeface="Calibri"/>
              </a:rPr>
              <a:t>Teja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b="1" dirty="0" err="1">
                <a:latin typeface="Calibri"/>
                <a:ea typeface="Calibri"/>
                <a:cs typeface="Calibri"/>
              </a:rPr>
              <a:t>Pamula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24EMCA1237</a:t>
            </a:r>
          </a:p>
          <a:p>
            <a:pPr marL="0" indent="0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0" name="Content Placeholder 3">
            <a:extLst>
              <a:ext uri="{FF2B5EF4-FFF2-40B4-BE49-F238E27FC236}">
                <a16:creationId xmlns="" xmlns:a16="http://schemas.microsoft.com/office/drawing/2014/main" id="{9B98D82D-B30C-3ABD-28CB-C464E815B492}"/>
              </a:ext>
            </a:extLst>
          </p:cNvPr>
          <p:cNvSpPr>
            <a:spLocks noGrp="1"/>
          </p:cNvSpPr>
          <p:nvPr/>
        </p:nvSpPr>
        <p:spPr>
          <a:xfrm>
            <a:off x="8267699" y="4432011"/>
            <a:ext cx="3086101" cy="21432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Project Guide: 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latin typeface="Calibri"/>
                <a:ea typeface="Calibri"/>
                <a:cs typeface="Calibri"/>
              </a:rPr>
              <a:t>Dr. </a:t>
            </a:r>
            <a:r>
              <a:rPr lang="en-US" b="1" dirty="0" err="1">
                <a:latin typeface="Calibri"/>
                <a:ea typeface="Calibri"/>
                <a:cs typeface="Calibri"/>
              </a:rPr>
              <a:t>Brijendra</a:t>
            </a:r>
            <a:r>
              <a:rPr lang="en-US" b="1" dirty="0">
                <a:latin typeface="Calibri"/>
                <a:ea typeface="Calibri"/>
                <a:cs typeface="Calibri"/>
              </a:rPr>
              <a:t> Singh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Associate Professor</a:t>
            </a:r>
          </a:p>
          <a:p>
            <a:pPr marL="0" indent="0" algn="r">
              <a:buNone/>
            </a:pPr>
            <a:endParaRPr lang="en-US" dirty="0"/>
          </a:p>
          <a:p>
            <a:pPr marL="0" indent="0" algn="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0540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16FD52B-49E1-8908-DA94-A968BE76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19A153C-0B46-5669-321E-F07DFD016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 smtClean="0">
                <a:ea typeface="+mn-lt"/>
                <a:cs typeface="+mn-lt"/>
              </a:rPr>
              <a:t>Problem Statement</a:t>
            </a:r>
            <a:endParaRPr lang="en-US" dirty="0" smtClean="0"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 smtClean="0">
                <a:ea typeface="+mn-lt"/>
                <a:cs typeface="+mn-lt"/>
              </a:rPr>
              <a:t>Technology </a:t>
            </a:r>
            <a:r>
              <a:rPr lang="en-US" dirty="0" smtClean="0">
                <a:ea typeface="+mn-lt"/>
                <a:cs typeface="+mn-lt"/>
              </a:rPr>
              <a:t>Stack</a:t>
            </a:r>
            <a:endParaRPr lang="en-US" dirty="0" smtClean="0"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 smtClean="0">
                <a:ea typeface="+mn-lt"/>
                <a:cs typeface="+mn-lt"/>
              </a:rPr>
              <a:t>Core AI </a:t>
            </a:r>
            <a:r>
              <a:rPr lang="en-US" dirty="0" smtClean="0">
                <a:ea typeface="+mn-lt"/>
                <a:cs typeface="+mn-lt"/>
              </a:rPr>
              <a:t>Engine</a:t>
            </a:r>
            <a:endParaRPr lang="en-US" dirty="0" smtClean="0"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 smtClean="0">
                <a:ea typeface="+mn-lt"/>
                <a:cs typeface="+mn-lt"/>
              </a:rPr>
              <a:t>Live </a:t>
            </a:r>
            <a:r>
              <a:rPr lang="en-US" dirty="0" smtClean="0">
                <a:ea typeface="+mn-lt"/>
                <a:cs typeface="+mn-lt"/>
              </a:rPr>
              <a:t>Demonstration</a:t>
            </a:r>
            <a:endParaRPr lang="en-US" dirty="0" smtClean="0"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 smtClean="0">
                <a:ea typeface="+mn-lt"/>
                <a:cs typeface="+mn-lt"/>
              </a:rPr>
              <a:t>Conclusion &amp; Future </a:t>
            </a:r>
            <a:r>
              <a:rPr lang="en-US" dirty="0" smtClean="0">
                <a:ea typeface="+mn-lt"/>
                <a:cs typeface="+mn-lt"/>
              </a:rPr>
              <a:t>Scope</a:t>
            </a:r>
            <a:endParaRPr lang="en-US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="" xmlns:a16="http://schemas.microsoft.com/office/drawing/2014/main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24273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08F39B-93FF-A16F-44E6-EDB620B2C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ea typeface="+mn-lt"/>
                <a:cs typeface="+mn-lt"/>
              </a:rPr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450ED45-B10D-4EF7-2B32-5856F981D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We </a:t>
            </a:r>
            <a:r>
              <a:rPr lang="en-US" sz="1400" b="1" dirty="0" smtClean="0"/>
              <a:t>Forget Things Fast: :</a:t>
            </a:r>
            <a:endParaRPr lang="en-US" sz="1400" b="1" dirty="0"/>
          </a:p>
          <a:p>
            <a:pPr>
              <a:lnSpc>
                <a:spcPct val="150000"/>
              </a:lnSpc>
              <a:buNone/>
            </a:pPr>
            <a:r>
              <a:rPr lang="en-US" sz="1400" b="1" dirty="0"/>
              <a:t>	</a:t>
            </a:r>
            <a:r>
              <a:rPr lang="en-US" sz="1400" dirty="0" smtClean="0"/>
              <a:t> Our brains naturally forget deep thoughts and life insights within a few days. 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Standard </a:t>
            </a:r>
            <a:r>
              <a:rPr lang="en-US" sz="1400" b="1" dirty="0" smtClean="0"/>
              <a:t>Apps are Passive</a:t>
            </a:r>
            <a:r>
              <a:rPr lang="en-US" sz="1400" b="1" dirty="0" smtClean="0"/>
              <a:t>::</a:t>
            </a:r>
            <a:r>
              <a:rPr lang="en-US" sz="1400" dirty="0" smtClean="0"/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IN" sz="1400" dirty="0" smtClean="0"/>
              <a:t>	</a:t>
            </a:r>
            <a:r>
              <a:rPr lang="en-US" sz="1400" dirty="0" smtClean="0"/>
              <a:t>Apps </a:t>
            </a:r>
            <a:r>
              <a:rPr lang="en-US" sz="1400" dirty="0" smtClean="0"/>
              <a:t>like Notion, Google Keep, or </a:t>
            </a:r>
            <a:r>
              <a:rPr lang="en-US" sz="1400" dirty="0" err="1" smtClean="0"/>
              <a:t>WhatsApp</a:t>
            </a:r>
            <a:r>
              <a:rPr lang="en-US" sz="1400" dirty="0" smtClean="0"/>
              <a:t> just hold text like an empty box. They cannot connect your past notes to your present life.</a:t>
            </a:r>
            <a:endParaRPr lang="en-US" sz="1400" b="1" dirty="0"/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AI </a:t>
            </a:r>
            <a:r>
              <a:rPr lang="en-US" sz="1400" b="1" dirty="0" smtClean="0"/>
              <a:t>Apps Have </a:t>
            </a:r>
            <a:r>
              <a:rPr lang="en-US" sz="1400" b="1" dirty="0" err="1" smtClean="0"/>
              <a:t>Paywalls</a:t>
            </a:r>
            <a:r>
              <a:rPr lang="en-US" sz="1400" b="1" dirty="0" smtClean="0"/>
              <a:t>:</a:t>
            </a:r>
            <a:r>
              <a:rPr lang="en-US" sz="1400" dirty="0" smtClean="0"/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 Existing AI tools like Rosebud AI or </a:t>
            </a:r>
            <a:r>
              <a:rPr lang="en-US" sz="1400" dirty="0" err="1" smtClean="0"/>
              <a:t>Mindsera</a:t>
            </a:r>
            <a:r>
              <a:rPr lang="en-US" sz="1400" dirty="0" smtClean="0"/>
              <a:t> are locked behind expensive monthly subscriptions. </a:t>
            </a:r>
            <a:endParaRPr lang="en-US" sz="1400" dirty="0" smtClean="0"/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MIRROR Solution: </a:t>
            </a:r>
            <a:endParaRPr lang="en-US" sz="1400" b="1" dirty="0" smtClean="0"/>
          </a:p>
          <a:p>
            <a:pPr>
              <a:lnSpc>
                <a:spcPct val="150000"/>
              </a:lnSpc>
              <a:buNone/>
            </a:pPr>
            <a:r>
              <a:rPr lang="en-IN" sz="1400" dirty="0" smtClean="0"/>
              <a:t>	</a:t>
            </a:r>
            <a:r>
              <a:rPr lang="en-US" sz="1400" dirty="0" smtClean="0"/>
              <a:t> A smart, private AI journal that connects your history to your present. When you chat with it, MIRROR instantly retrieves relevant past entries, resurfacing your old life lessons right when you need </a:t>
            </a:r>
            <a:r>
              <a:rPr lang="en-US" sz="1400" dirty="0" smtClean="0"/>
              <a:t>them, completely </a:t>
            </a:r>
            <a:r>
              <a:rPr lang="en-US" sz="1400" dirty="0" smtClean="0"/>
              <a:t>free to use.</a:t>
            </a:r>
            <a:endParaRPr lang="en-US" sz="1400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="" xmlns:a16="http://schemas.microsoft.com/office/drawing/2014/main" id="{6E6E5675-CB19-8B8D-3176-8CE7AA24055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26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3208E9-D812-CBEE-8C85-694B0068A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ea typeface="+mn-lt"/>
                <a:cs typeface="+mn-lt"/>
              </a:rPr>
              <a:t>Technology Stack</a:t>
            </a:r>
            <a:endParaRPr lang="en-US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="" xmlns:a16="http://schemas.microsoft.com/office/drawing/2014/main" id="{D3FFE436-32CE-1B0C-74BA-E669E05EFA5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="" xmlns:a16="http://schemas.microsoft.com/office/drawing/2014/main" id="{2D9A4E6F-B5E8-A748-2AF1-094CCC150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</a:t>
            </a:r>
            <a:r>
              <a:rPr lang="en-US" sz="1400" b="1" dirty="0" smtClean="0"/>
              <a:t>Frontend</a:t>
            </a:r>
            <a:r>
              <a:rPr lang="en-US" sz="1400" b="1" dirty="0" smtClean="0"/>
              <a:t>:</a:t>
            </a:r>
            <a:endParaRPr lang="en-US" sz="1400" dirty="0"/>
          </a:p>
          <a:p>
            <a:pPr>
              <a:lnSpc>
                <a:spcPct val="150000"/>
              </a:lnSpc>
              <a:buNone/>
            </a:pPr>
            <a:r>
              <a:rPr lang="en-IN" sz="1400" dirty="0" smtClean="0"/>
              <a:t>	</a:t>
            </a:r>
            <a:r>
              <a:rPr lang="en-US" sz="1400" dirty="0" smtClean="0"/>
              <a:t> Built with Ionic and Angular, allowing the exact same code to run smoothly on both web browsers and Android phones.</a:t>
            </a:r>
            <a:endParaRPr lang="en-US" sz="1400" dirty="0"/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</a:t>
            </a:r>
            <a:r>
              <a:rPr lang="en-US" sz="1400" b="1" dirty="0" smtClean="0"/>
              <a:t>Backend</a:t>
            </a:r>
            <a:r>
              <a:rPr lang="en-US" sz="1400" b="1" dirty="0" smtClean="0"/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IN" sz="1400" dirty="0" smtClean="0"/>
              <a:t>	</a:t>
            </a:r>
            <a:r>
              <a:rPr lang="en-US" sz="1400" dirty="0" smtClean="0"/>
              <a:t> Written in Java Spring Boot and divided into </a:t>
            </a:r>
            <a:r>
              <a:rPr lang="en-US" sz="1400" dirty="0" err="1" smtClean="0"/>
              <a:t>microservices</a:t>
            </a:r>
            <a:r>
              <a:rPr lang="en-US" sz="1400" dirty="0" smtClean="0"/>
              <a:t> to keep the system fast, scalable, and organized.</a:t>
            </a:r>
            <a:endParaRPr lang="en-US" sz="1400" dirty="0"/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</a:t>
            </a:r>
            <a:r>
              <a:rPr lang="en-US" sz="1400" b="1" dirty="0" smtClean="0"/>
              <a:t>Database</a:t>
            </a:r>
            <a:r>
              <a:rPr lang="en-US" sz="1400" b="1" dirty="0" smtClean="0"/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IN" sz="1400" b="1" dirty="0" smtClean="0"/>
              <a:t>	</a:t>
            </a:r>
            <a:r>
              <a:rPr lang="en-US" sz="1400" b="1" dirty="0" smtClean="0"/>
              <a:t> </a:t>
            </a:r>
            <a:r>
              <a:rPr lang="en-US" sz="1400" dirty="0" smtClean="0"/>
              <a:t>Powered by </a:t>
            </a:r>
            <a:r>
              <a:rPr lang="en-US" sz="1400" dirty="0" err="1" smtClean="0"/>
              <a:t>PostgreSQL</a:t>
            </a:r>
            <a:r>
              <a:rPr lang="en-US" sz="1400" dirty="0" smtClean="0"/>
              <a:t> with the </a:t>
            </a:r>
            <a:r>
              <a:rPr lang="en-US" sz="1400" dirty="0" err="1" smtClean="0"/>
              <a:t>pgvector</a:t>
            </a:r>
            <a:r>
              <a:rPr lang="en-US" sz="1400" dirty="0" smtClean="0"/>
              <a:t> extension, which allows us to store standard text and AI embeddings together.</a:t>
            </a:r>
            <a:endParaRPr lang="en-US" sz="1400" dirty="0" smtClean="0"/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</a:t>
            </a:r>
            <a:r>
              <a:rPr lang="en-US" sz="1400" b="1" dirty="0" smtClean="0"/>
              <a:t>AI Connection</a:t>
            </a:r>
            <a:r>
              <a:rPr lang="en-US" sz="1400" b="1" dirty="0" smtClean="0"/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IN" sz="1400" b="1" dirty="0" smtClean="0"/>
              <a:t>	</a:t>
            </a:r>
            <a:r>
              <a:rPr lang="en-US" sz="1400" dirty="0" smtClean="0"/>
              <a:t>Uses </a:t>
            </a:r>
            <a:r>
              <a:rPr lang="en-US" sz="1400" dirty="0" smtClean="0"/>
              <a:t>the Gemini API to understand the deep meaning of your text, and the </a:t>
            </a:r>
            <a:r>
              <a:rPr lang="en-US" sz="1400" dirty="0" err="1" smtClean="0"/>
              <a:t>Groq</a:t>
            </a:r>
            <a:r>
              <a:rPr lang="en-US" sz="1400" dirty="0" smtClean="0"/>
              <a:t> API to generate lightning-fast conversational answers.</a:t>
            </a:r>
            <a:endParaRPr lang="en-US" sz="1400" dirty="0"/>
          </a:p>
          <a:p>
            <a:pPr>
              <a:lnSpc>
                <a:spcPct val="150000"/>
              </a:lnSpc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="" xmlns:p14="http://schemas.microsoft.com/office/powerpoint/2010/main" val="2547360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E1B3906-DA4B-8EB6-BA07-A4E355F63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>
                <a:ea typeface="+mn-lt"/>
                <a:cs typeface="+mn-lt"/>
              </a:rPr>
              <a:t>Core AI Engine</a:t>
            </a:r>
            <a:endParaRPr lang="en-US" dirty="0"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D9A4E6F-B5E8-A748-2AF1-094CCC150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Saving </a:t>
            </a:r>
            <a:r>
              <a:rPr lang="en-US" sz="1400" b="1" dirty="0" smtClean="0"/>
              <a:t>Thoughts (Embeddings</a:t>
            </a:r>
            <a:r>
              <a:rPr lang="en-US" sz="1400" b="1" dirty="0" smtClean="0"/>
              <a:t>):</a:t>
            </a:r>
            <a:endParaRPr lang="en-US" sz="1400" dirty="0"/>
          </a:p>
          <a:p>
            <a:pPr>
              <a:lnSpc>
                <a:spcPct val="150000"/>
              </a:lnSpc>
              <a:buNone/>
            </a:pPr>
            <a:r>
              <a:rPr lang="en-US" sz="1400" b="1" dirty="0"/>
              <a:t>	</a:t>
            </a:r>
            <a:r>
              <a:rPr lang="en-US" sz="1400" dirty="0" smtClean="0"/>
              <a:t>You </a:t>
            </a:r>
            <a:r>
              <a:rPr lang="en-US" sz="1400" dirty="0" smtClean="0"/>
              <a:t>type or speak a note into the app. The Gemini API acts as a translator, converting your words into mathematical numbers (vector embeddings) to capture the true meaning and emotion, not just the text</a:t>
            </a:r>
            <a:r>
              <a:rPr lang="en-US" sz="1400" dirty="0" smtClean="0"/>
              <a:t>. </a:t>
            </a:r>
            <a:endParaRPr lang="en-US" sz="1400" dirty="0" smtClean="0"/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Smart Memory Match (Semantic Search):</a:t>
            </a:r>
            <a:endParaRPr lang="en-US" sz="1400" dirty="0" smtClean="0"/>
          </a:p>
          <a:p>
            <a:pPr>
              <a:lnSpc>
                <a:spcPct val="150000"/>
              </a:lnSpc>
              <a:buNone/>
            </a:pPr>
            <a:r>
              <a:rPr lang="en-US" sz="1400" b="1" dirty="0"/>
              <a:t>	</a:t>
            </a:r>
            <a:r>
              <a:rPr lang="en-US" sz="1400" dirty="0" smtClean="0"/>
              <a:t>Our </a:t>
            </a:r>
            <a:r>
              <a:rPr lang="en-US" sz="1400" dirty="0" smtClean="0"/>
              <a:t>database acts like a smart librarian. Instead of matching keywords, it uses semantic search to compare those numbers and instantly find old notes where you faced similar situations</a:t>
            </a:r>
            <a:r>
              <a:rPr lang="en-US" sz="1400" dirty="0" smtClean="0"/>
              <a:t>.</a:t>
            </a:r>
            <a:endParaRPr lang="en-US" sz="1400" dirty="0"/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Personal </a:t>
            </a:r>
            <a:r>
              <a:rPr lang="en-US" sz="1400" b="1" dirty="0" smtClean="0"/>
              <a:t>Advice (RAG</a:t>
            </a:r>
            <a:r>
              <a:rPr lang="en-US" sz="1400" b="1" dirty="0" smtClean="0"/>
              <a:t>):</a:t>
            </a:r>
            <a:endParaRPr lang="en-US" sz="1400" dirty="0"/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We </a:t>
            </a:r>
            <a:r>
              <a:rPr lang="en-US" sz="1400" dirty="0" smtClean="0"/>
              <a:t>use a system called </a:t>
            </a:r>
            <a:r>
              <a:rPr lang="en-US" sz="1400" dirty="0" smtClean="0"/>
              <a:t>Retrieval Augmented </a:t>
            </a:r>
            <a:r>
              <a:rPr lang="en-US" sz="1400" dirty="0" smtClean="0"/>
              <a:t>Generation. The </a:t>
            </a:r>
            <a:r>
              <a:rPr lang="en-US" sz="1400" dirty="0" err="1" smtClean="0"/>
              <a:t>Groq</a:t>
            </a:r>
            <a:r>
              <a:rPr lang="en-US" sz="1400" dirty="0" smtClean="0"/>
              <a:t> API acts like a wise </a:t>
            </a:r>
            <a:r>
              <a:rPr lang="en-US" sz="1400" dirty="0" smtClean="0"/>
              <a:t>friend, it </a:t>
            </a:r>
            <a:r>
              <a:rPr lang="en-US" sz="1400" dirty="0" smtClean="0"/>
              <a:t>reads your new note alongside those past memories, then instantly replies with advice based on your own life lessons</a:t>
            </a:r>
            <a:r>
              <a:rPr lang="en-US" sz="1400" dirty="0" smtClean="0"/>
              <a:t>.</a:t>
            </a:r>
            <a:endParaRPr lang="en-US" sz="1400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="" xmlns:a16="http://schemas.microsoft.com/office/drawing/2014/main" id="{E92BD8A6-9895-4618-98CC-84E14610863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62719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4685060-9B7C-6156-2C19-CC2636BAB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ea typeface="+mn-lt"/>
                <a:cs typeface="+mn-lt"/>
              </a:rPr>
              <a:t>Live Demonstration</a:t>
            </a:r>
            <a:endParaRPr lang="en-US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="" xmlns:a16="http://schemas.microsoft.com/office/drawing/2014/main" id="{172CDEEB-4C14-BC76-3800-FBA985F3AB9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8343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2E669A2-B029-BA9B-05CF-DCA595AE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ea typeface="+mn-lt"/>
                <a:cs typeface="+mn-lt"/>
              </a:rPr>
              <a:t>Conclusion &amp; Future Scope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6F28C50-8AD8-8637-9010-D67E67E66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Conclusion</a:t>
            </a:r>
            <a:r>
              <a:rPr lang="en-US" sz="1400" b="1" dirty="0" smtClean="0"/>
              <a:t>:</a:t>
            </a:r>
            <a:endParaRPr lang="en-US" sz="1400" dirty="0"/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</a:t>
            </a:r>
            <a:r>
              <a:rPr lang="en-US" sz="1400" b="1" dirty="0" smtClean="0"/>
              <a:t>Problem Solved:</a:t>
            </a:r>
            <a:r>
              <a:rPr lang="en-US" sz="1400" dirty="0" smtClean="0"/>
              <a:t> MIRROR successfully transforms passive note-taking into an active, conversational AI experience.</a:t>
            </a:r>
            <a:endParaRPr lang="en-US" sz="1400" dirty="0"/>
          </a:p>
          <a:p>
            <a:pPr>
              <a:lnSpc>
                <a:spcPct val="150000"/>
              </a:lnSpc>
              <a:buNone/>
            </a:pPr>
            <a:r>
              <a:rPr lang="en-US" sz="1400" b="1" dirty="0"/>
              <a:t>	</a:t>
            </a:r>
            <a:r>
              <a:rPr lang="en-US" sz="1400" b="1" dirty="0" smtClean="0"/>
              <a:t>Accessible Innovation:</a:t>
            </a:r>
            <a:r>
              <a:rPr lang="en-US" sz="1400" dirty="0" smtClean="0"/>
              <a:t> Proved that premium, personalized AI features can be built entirely for free using modern developer tools.</a:t>
            </a:r>
            <a:endParaRPr lang="en-US" sz="1400" dirty="0"/>
          </a:p>
          <a:p>
            <a:pPr>
              <a:lnSpc>
                <a:spcPct val="150000"/>
              </a:lnSpc>
              <a:buNone/>
            </a:pPr>
            <a:r>
              <a:rPr lang="en-US" sz="1400" b="1" dirty="0"/>
              <a:t>	</a:t>
            </a:r>
            <a:r>
              <a:rPr lang="en-US" sz="1400" b="1" dirty="0" smtClean="0"/>
              <a:t>Simplicity &amp; Privacy:</a:t>
            </a:r>
            <a:r>
              <a:rPr lang="en-US" sz="1400" dirty="0" smtClean="0"/>
              <a:t> Delivered a clean, focused alternative to bloated commercial dashboards</a:t>
            </a:r>
            <a:r>
              <a:rPr lang="en-US" sz="1400" dirty="0" smtClean="0"/>
              <a:t>.</a:t>
            </a:r>
            <a:endParaRPr lang="en-US" sz="1400" dirty="0"/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Future </a:t>
            </a:r>
            <a:r>
              <a:rPr lang="en-US" sz="1400" b="1" dirty="0" smtClean="0"/>
              <a:t>Scope:</a:t>
            </a:r>
            <a:endParaRPr lang="en-US" sz="1400" dirty="0"/>
          </a:p>
          <a:p>
            <a:pPr>
              <a:lnSpc>
                <a:spcPct val="150000"/>
              </a:lnSpc>
              <a:buNone/>
            </a:pPr>
            <a:r>
              <a:rPr lang="en-US" sz="1400" b="1" dirty="0"/>
              <a:t>	</a:t>
            </a:r>
            <a:r>
              <a:rPr lang="en-US" sz="1400" b="1" dirty="0" smtClean="0"/>
              <a:t>Multimedia Memories:</a:t>
            </a:r>
            <a:r>
              <a:rPr lang="en-US" sz="1400" dirty="0" smtClean="0"/>
              <a:t> Allow users to upload photos, using AI vision to understand and connect visual moments to their journal entries.</a:t>
            </a:r>
            <a:endParaRPr lang="en-US" sz="1400" dirty="0"/>
          </a:p>
          <a:p>
            <a:pPr>
              <a:lnSpc>
                <a:spcPct val="150000"/>
              </a:lnSpc>
              <a:buNone/>
            </a:pPr>
            <a:r>
              <a:rPr lang="en-US" sz="1400" b="1" dirty="0"/>
              <a:t>	</a:t>
            </a:r>
            <a:r>
              <a:rPr lang="en-US" sz="1400" b="1" dirty="0" smtClean="0"/>
              <a:t>Proactive AI Check-ins:</a:t>
            </a:r>
            <a:r>
              <a:rPr lang="en-US" sz="1400" dirty="0" smtClean="0"/>
              <a:t> Evolve the AI to act like a true friend. If you write about being stressed, the AI will proactively check on you a few days later to see how you are doing.</a:t>
            </a:r>
            <a:endParaRPr lang="en-US" sz="1400" dirty="0"/>
          </a:p>
          <a:p>
            <a:pPr>
              <a:lnSpc>
                <a:spcPct val="150000"/>
              </a:lnSpc>
              <a:buNone/>
            </a:pPr>
            <a:r>
              <a:rPr lang="en-US" sz="1400" b="1" dirty="0"/>
              <a:t>	</a:t>
            </a:r>
            <a:r>
              <a:rPr lang="en-US" sz="1400" b="1" dirty="0" smtClean="0"/>
              <a:t>Personal Life Coach:</a:t>
            </a:r>
            <a:r>
              <a:rPr lang="en-US" sz="1400" dirty="0" smtClean="0"/>
              <a:t> The AI will automatically identify your goals from your daily notes and act as a smart accountability partner to help you achieve them.</a:t>
            </a:r>
            <a:endParaRPr lang="en-US" sz="1400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="" xmlns:a16="http://schemas.microsoft.com/office/drawing/2014/main" id="{ADA46358-549D-068C-0F98-9A8DFE2D3A7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7865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41EF3B1-DFD2-C2C9-DFA9-B99FF9F8B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206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="" xmlns:a16="http://schemas.microsoft.com/office/drawing/2014/main" id="{3AB45649-46DB-63EE-0C5A-735D6229B43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BEC4A68-BB44-5269-E7B8-9892C66A1B6A}"/>
              </a:ext>
            </a:extLst>
          </p:cNvPr>
          <p:cNvSpPr txBox="1"/>
          <p:nvPr/>
        </p:nvSpPr>
        <p:spPr>
          <a:xfrm>
            <a:off x="6310314" y="3500438"/>
            <a:ext cx="578185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000" dirty="0"/>
              <a:t>		</a:t>
            </a:r>
            <a:endParaRPr lang="en-US" sz="1000" b="1" dirty="0"/>
          </a:p>
          <a:p>
            <a:pPr>
              <a:buNone/>
            </a:pPr>
            <a:r>
              <a:rPr lang="en-US" sz="1000" dirty="0"/>
              <a:t>		</a:t>
            </a:r>
            <a:endParaRPr lang="en-US" sz="1000" b="1" dirty="0"/>
          </a:p>
          <a:p>
            <a:pPr>
              <a:buNone/>
            </a:pPr>
            <a:r>
              <a:rPr lang="en-US" sz="1000" dirty="0"/>
              <a:t>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FFF6B90-425E-620C-35C1-D917801918D8}"/>
              </a:ext>
            </a:extLst>
          </p:cNvPr>
          <p:cNvSpPr txBox="1"/>
          <p:nvPr/>
        </p:nvSpPr>
        <p:spPr>
          <a:xfrm>
            <a:off x="1059230" y="6165953"/>
            <a:ext cx="11270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ea typeface="+mn-lt"/>
                <a:cs typeface="+mn-lt"/>
              </a:rPr>
              <a:t>MIRЯOЯ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EA1CE2E-1203-9DE5-A7BC-89CF2B772871}"/>
              </a:ext>
            </a:extLst>
          </p:cNvPr>
          <p:cNvSpPr txBox="1"/>
          <p:nvPr/>
        </p:nvSpPr>
        <p:spPr>
          <a:xfrm>
            <a:off x="7723226" y="6167801"/>
            <a:ext cx="38734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Prabhu</a:t>
            </a:r>
            <a:r>
              <a:rPr lang="en-US" dirty="0"/>
              <a:t> </a:t>
            </a:r>
            <a:r>
              <a:rPr lang="en-US" dirty="0" err="1"/>
              <a:t>Teja</a:t>
            </a:r>
            <a:r>
              <a:rPr lang="en-US" dirty="0"/>
              <a:t> </a:t>
            </a:r>
            <a:r>
              <a:rPr lang="en-US" dirty="0" err="1"/>
              <a:t>Pamula</a:t>
            </a:r>
            <a:r>
              <a:rPr lang="en-US" dirty="0"/>
              <a:t> | 24EMCA1237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95340" y="5286388"/>
          <a:ext cx="4643470" cy="755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44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42902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51777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Repository: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hlinkClick r:id="rId3"/>
                        </a:rPr>
                        <a:t>https://github.com/prabhu-tejaa/MIRROR</a:t>
                      </a:r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1777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Web Interface: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hlinkClick r:id="rId4"/>
                        </a:rPr>
                        <a:t>https://projectmirror.tech/</a:t>
                      </a:r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1777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Android Build: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hlinkClick r:id="rId5"/>
                        </a:rPr>
                        <a:t>https://github.com/prabhu-tejaa/MIRROR/releases</a:t>
                      </a:r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12017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2446</TotalTime>
  <Words>100</Words>
  <Application>Microsoft Office PowerPoint</Application>
  <PresentationFormat>Custom</PresentationFormat>
  <Paragraphs>64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MIRЯOЯ An AI Powered Memory and Emotional Analytics System</vt:lpstr>
      <vt:lpstr>Outline</vt:lpstr>
      <vt:lpstr>Problem Statement</vt:lpstr>
      <vt:lpstr>Technology Stack</vt:lpstr>
      <vt:lpstr>Core AI Engine</vt:lpstr>
      <vt:lpstr>Live Demonstration</vt:lpstr>
      <vt:lpstr>Conclusion &amp; Future Scope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Shelly Pranuti</cp:lastModifiedBy>
  <cp:revision>90</cp:revision>
  <dcterms:created xsi:type="dcterms:W3CDTF">2013-07-15T20:26:40Z</dcterms:created>
  <dcterms:modified xsi:type="dcterms:W3CDTF">2026-07-09T07:17:34Z</dcterms:modified>
</cp:coreProperties>
</file>