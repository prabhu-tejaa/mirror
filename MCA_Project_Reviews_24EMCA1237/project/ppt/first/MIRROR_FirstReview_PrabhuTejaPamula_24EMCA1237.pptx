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4" r:id="rId3"/>
    <p:sldId id="262" r:id="rId4"/>
    <p:sldId id="263" r:id="rId5"/>
    <p:sldId id="272" r:id="rId6"/>
    <p:sldId id="270" r:id="rId7"/>
    <p:sldId id="268" r:id="rId8"/>
    <p:sldId id="269" r:id="rId9"/>
    <p:sldId id="275" r:id="rId10"/>
    <p:sldId id="273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C9E70-9DF9-477D-E749-D2195C619A51}" v="994" dt="2026-03-25T22:29:53.598"/>
    <p1510:client id="{43C864F2-0BBB-BFA6-527E-CD528C0E7CC4}" v="16" dt="2026-03-27T07:52:23.614"/>
    <p1510:client id="{61E7997F-AA79-68D5-6F13-C522EA8A8835}" v="337" dt="2026-03-26T08:11:29.621"/>
    <p1510:client id="{7CDD80BF-8307-79CF-A85A-5D31041A1110}" v="99" dt="2026-03-26T20:19:56.971"/>
    <p1510:client id="{92E1C9FF-B287-EE43-AC41-F7D9F9B2A34C}" v="14" dt="2026-03-27T22:10:23.678"/>
    <p1510:client id="{C0E84209-0DD8-F3CC-4B38-E32C62454442}" v="5" dt="2026-03-26T08:12:50.030"/>
    <p1510:client id="{D4C5E3BF-17EC-31DC-E552-FECAB8F74E8B}" v="3" dt="2026-03-26T08:29:31.809"/>
    <p1510:client id="{DA063BAB-7339-62E3-24DD-90A712C71FAB}" v="2" dt="2026-03-26T08:41:24.284"/>
    <p1510:client id="{E1DC653E-FC6C-5047-E537-59EC81AB8AEE}" v="14" dt="2026-03-26T21:01:01.235"/>
    <p1510:client id="{E33CE4E6-4428-AF69-63BD-F08168BC66E1}" v="25" dt="2026-03-26T08:24:31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437" y="-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frederick-smith/toward-stable-long-term-memory-in-llms" TargetMode="External"/><Relationship Id="rId2" Type="http://schemas.openxmlformats.org/officeDocument/2006/relationships/hyperlink" Target="https://doi.org/10.36713/epra2056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hyperlink" Target="https://doi.org/10.2478/ijanmc-2024-0029" TargetMode="External"/><Relationship Id="rId4" Type="http://schemas.openxmlformats.org/officeDocument/2006/relationships/hyperlink" Target="https://www.hbs.edu/ris/download.aspx?name=26-030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bhu-tejaa/MIRROR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prabhu-tejaa/MIRROR/releases" TargetMode="External"/><Relationship Id="rId4" Type="http://schemas.openxmlformats.org/officeDocument/2006/relationships/hyperlink" Target="https://projectmirror.tec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1E15-52DC-FA93-5EDC-0DD2D03C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6602"/>
            <a:ext cx="10515600" cy="1325563"/>
          </a:xfrm>
        </p:spPr>
        <p:txBody>
          <a:bodyPr/>
          <a:lstStyle/>
          <a:p>
            <a:pPr algn="ctr">
              <a:spcBef>
                <a:spcPts val="1000"/>
              </a:spcBef>
            </a:pPr>
            <a:r>
              <a:rPr lang="en-US" b="1" dirty="0">
                <a:ea typeface="+mj-lt"/>
                <a:cs typeface="+mj-lt"/>
              </a:rPr>
              <a:t>MIRЯOЯ</a:t>
            </a:r>
          </a:p>
          <a:p>
            <a:pPr algn="ctr">
              <a:spcBef>
                <a:spcPts val="1000"/>
              </a:spcBef>
            </a:pPr>
            <a:r>
              <a:rPr lang="en-US" sz="2800" dirty="0">
                <a:latin typeface="Aptos"/>
              </a:rPr>
              <a:t>An AI Powered Memory and Emotional Analytics System</a:t>
            </a:r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B529B9D4-FE21-38D0-B570-12FA1A7F04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C281326-64B2-DBD9-01F6-C292DC1BE5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ea typeface="+mj-lt"/>
                <a:cs typeface="+mj-lt"/>
              </a:rPr>
              <a:t>Project</a:t>
            </a:r>
            <a:endParaRPr lang="en-U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AEE31ED-ED9B-5090-0324-D67B1B6FD984}"/>
              </a:ext>
            </a:extLst>
          </p:cNvPr>
          <p:cNvSpPr txBox="1"/>
          <p:nvPr/>
        </p:nvSpPr>
        <p:spPr>
          <a:xfrm>
            <a:off x="371211" y="6038774"/>
            <a:ext cx="1757043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Review </a:t>
            </a:r>
          </a:p>
          <a:p>
            <a:r>
              <a:rPr lang="en-US" dirty="0"/>
              <a:t>10 May 2026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E27BA5A-FCDD-026C-4548-16053C39D2C5}"/>
              </a:ext>
            </a:extLst>
          </p:cNvPr>
          <p:cNvSpPr>
            <a:spLocks noGrp="1"/>
          </p:cNvSpPr>
          <p:nvPr/>
        </p:nvSpPr>
        <p:spPr>
          <a:xfrm>
            <a:off x="838200" y="4605192"/>
            <a:ext cx="3233305" cy="19700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Presented by: </a:t>
            </a:r>
          </a:p>
          <a:p>
            <a:pPr marL="0" indent="0">
              <a:buNone/>
            </a:pPr>
            <a:r>
              <a:rPr lang="en-US" b="1" dirty="0" err="1">
                <a:latin typeface="Calibri"/>
                <a:ea typeface="Calibri"/>
                <a:cs typeface="Calibri"/>
              </a:rPr>
              <a:t>Prabhu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Teja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Pamula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24EMCA1237</a:t>
            </a: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9B98D82D-B30C-3ABD-28CB-C464E815B492}"/>
              </a:ext>
            </a:extLst>
          </p:cNvPr>
          <p:cNvSpPr>
            <a:spLocks noGrp="1"/>
          </p:cNvSpPr>
          <p:nvPr/>
        </p:nvSpPr>
        <p:spPr>
          <a:xfrm>
            <a:off x="8267699" y="4432011"/>
            <a:ext cx="3086101" cy="21432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Project Guide: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Dr. </a:t>
            </a:r>
            <a:r>
              <a:rPr lang="en-US" b="1" dirty="0" err="1">
                <a:latin typeface="Calibri"/>
                <a:ea typeface="Calibri"/>
                <a:cs typeface="Calibri"/>
              </a:rPr>
              <a:t>Brijendra</a:t>
            </a:r>
            <a:r>
              <a:rPr lang="en-US" b="1" dirty="0">
                <a:latin typeface="Calibri"/>
                <a:ea typeface="Calibri"/>
                <a:cs typeface="Calibri"/>
              </a:rPr>
              <a:t> Singh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Associate Professor</a:t>
            </a:r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5409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Outline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Problem Recap</a:t>
            </a:r>
            <a:endParaRPr lang="en-US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Literature Review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Theoretical Background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Proposed System Architecture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Research Design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Project Plan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References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7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F39B-93FF-A16F-44E6-EDB620B2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Problem Recap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0ED45-B10D-4EF7-2B32-5856F981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Core Problem:</a:t>
            </a:r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	</a:t>
            </a:r>
            <a:r>
              <a:rPr lang="en-US" sz="1400" dirty="0"/>
              <a:t>Human brains are built to move on, causing "Aha!" moments and life lessons to fade within days. </a:t>
            </a:r>
          </a:p>
          <a:p>
            <a:pPr>
              <a:lnSpc>
                <a:spcPct val="110000"/>
              </a:lnSpc>
              <a:buNone/>
            </a:pPr>
            <a:endParaRPr lang="en-US" sz="1400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"Fade":</a:t>
            </a:r>
            <a:r>
              <a:rPr lang="en-US" sz="1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1400" dirty="0"/>
              <a:t>	You might have a 2:00 AM insight about a career or relationship, but the next afternoon, the urgency of that feeling is gone. </a:t>
            </a:r>
          </a:p>
          <a:p>
            <a:pPr>
              <a:lnSpc>
                <a:spcPct val="110000"/>
              </a:lnSpc>
            </a:pP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Passive Silos:</a:t>
            </a:r>
            <a:r>
              <a:rPr lang="en-US" sz="1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1400" dirty="0"/>
              <a:t>	Tools like Notion, Keep or </a:t>
            </a:r>
            <a:r>
              <a:rPr lang="en-US" sz="1400" dirty="0" err="1"/>
              <a:t>WhatsApp</a:t>
            </a:r>
            <a:r>
              <a:rPr lang="en-US" sz="1400" dirty="0"/>
              <a:t> are "Static Systems" where information is recorded but stays isolated and forgotten. </a:t>
            </a:r>
          </a:p>
          <a:p>
            <a:pPr>
              <a:lnSpc>
                <a:spcPct val="110000"/>
              </a:lnSpc>
              <a:buNone/>
            </a:pP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Contextual Gap:</a:t>
            </a:r>
            <a:r>
              <a:rPr lang="en-US" sz="1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1400" dirty="0"/>
              <a:t>	Current AI tools lack long term personal context, they don't connect a lesson from months ago to a struggle today. </a:t>
            </a:r>
          </a:p>
          <a:p>
            <a:pPr>
              <a:lnSpc>
                <a:spcPct val="110000"/>
              </a:lnSpc>
            </a:pP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Lack of Reinforcement:</a:t>
            </a:r>
            <a:r>
              <a:rPr lang="en-US" sz="1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1400" dirty="0"/>
              <a:t>	There is no system designed to proactively "mirror" past breakthroughs back to the user.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6E6E5675-CB19-8B8D-3176-8CE7AA2405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08E9-D812-CBEE-8C85-694B0068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n-lt"/>
                <a:cs typeface="+mn-lt"/>
              </a:rPr>
              <a:t>Literature </a:t>
            </a:r>
            <a:r>
              <a:rPr lang="en-US" dirty="0">
                <a:ea typeface="+mj-lt"/>
                <a:cs typeface="+mj-lt"/>
              </a:rPr>
              <a:t>Review</a:t>
            </a:r>
            <a:endParaRPr lang="en-US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3FFE436-32CE-1B0C-74BA-E669E05EFA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1" dirty="0"/>
              <a:t>Theme 1: Emotional Tagging &amp; Long Term Memory (LTM)</a:t>
            </a: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Core Insight:</a:t>
            </a:r>
            <a:r>
              <a:rPr lang="en-US" sz="1400" dirty="0"/>
              <a:t> Emotional AI systems that recognize human feelings in real time significantly improve information retention and user motivation. 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Citation:</a:t>
            </a:r>
            <a:r>
              <a:rPr lang="en-US" sz="1400" dirty="0"/>
              <a:t> (</a:t>
            </a:r>
            <a:r>
              <a:rPr lang="en-US" sz="1400" dirty="0" err="1"/>
              <a:t>Deckker</a:t>
            </a:r>
            <a:r>
              <a:rPr lang="en-US" sz="1400" dirty="0"/>
              <a:t> &amp; </a:t>
            </a:r>
            <a:r>
              <a:rPr lang="en-US" sz="1400" dirty="0" err="1"/>
              <a:t>Sumanasekara</a:t>
            </a:r>
            <a:r>
              <a:rPr lang="en-US" sz="1400" dirty="0"/>
              <a:t>, 2025 – </a:t>
            </a:r>
            <a:r>
              <a:rPr lang="en-US" sz="1400" i="1" dirty="0"/>
              <a:t>Scopus Indexed</a:t>
            </a:r>
            <a:r>
              <a:rPr lang="en-US" sz="1400" dirty="0"/>
              <a:t>)</a:t>
            </a:r>
          </a:p>
          <a:p>
            <a:pPr>
              <a:lnSpc>
                <a:spcPct val="120000"/>
              </a:lnSpc>
              <a:buNone/>
            </a:pP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Theme 2: Semantic Stability in Memory Augmented LLMs</a:t>
            </a: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Core Insight:</a:t>
            </a:r>
            <a:r>
              <a:rPr lang="en-US" sz="1400" dirty="0"/>
              <a:t> Standard AI suffers from "Semantic Decay" (loss of nuance over time). Persistent context is required to maintain a stable "life story" for the user. 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Citation:</a:t>
            </a:r>
            <a:r>
              <a:rPr lang="en-US" sz="1400" dirty="0"/>
              <a:t> (Smith, 2025 – </a:t>
            </a:r>
            <a:r>
              <a:rPr lang="en-US" sz="1400" i="1" dirty="0"/>
              <a:t>IEEE/Medium</a:t>
            </a:r>
            <a:r>
              <a:rPr lang="en-US" sz="1400" dirty="0"/>
              <a:t>)</a:t>
            </a:r>
          </a:p>
          <a:p>
            <a:pPr>
              <a:lnSpc>
                <a:spcPct val="120000"/>
              </a:lnSpc>
              <a:buNone/>
            </a:pP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Theme 3: Proactive Behavioral Mirroring</a:t>
            </a: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Core Insight:</a:t>
            </a:r>
            <a:r>
              <a:rPr lang="en-US" sz="1400" dirty="0"/>
              <a:t> Personalized, proactive AI interventions create measurable benefits in resilience and prevent "mindfulness decline" compared to traditional static notes.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Citation:</a:t>
            </a:r>
            <a:r>
              <a:rPr lang="en-US" sz="1400" dirty="0"/>
              <a:t> (</a:t>
            </a:r>
            <a:r>
              <a:rPr lang="en-US" sz="1400" dirty="0" err="1"/>
              <a:t>Cachia</a:t>
            </a:r>
            <a:r>
              <a:rPr lang="en-US" sz="1400" dirty="0"/>
              <a:t> et al., 2025 – </a:t>
            </a:r>
            <a:r>
              <a:rPr lang="en-US" sz="1400" i="1" dirty="0"/>
              <a:t>HBS Research</a:t>
            </a:r>
            <a:r>
              <a:rPr lang="en-US" sz="1400" dirty="0"/>
              <a:t>)</a:t>
            </a:r>
          </a:p>
          <a:p>
            <a:pPr>
              <a:lnSpc>
                <a:spcPct val="120000"/>
              </a:lnSpc>
              <a:buNone/>
            </a:pP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Theme 4: Vector Storage for Contextual Coherence</a:t>
            </a: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Core Insight:</a:t>
            </a:r>
            <a:r>
              <a:rPr lang="en-US" sz="1400" dirty="0"/>
              <a:t> Utilizing Vector Databases (like </a:t>
            </a:r>
            <a:r>
              <a:rPr lang="en-US" sz="1400" dirty="0" err="1"/>
              <a:t>pgvector</a:t>
            </a:r>
            <a:r>
              <a:rPr lang="en-US" sz="1400" dirty="0"/>
              <a:t>) can increase task success rates by 10–20% by allowing the AI to selectively remember past breakthroughs.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Citation:</a:t>
            </a:r>
            <a:r>
              <a:rPr lang="en-US" sz="1400" dirty="0"/>
              <a:t> (</a:t>
            </a:r>
            <a:r>
              <a:rPr lang="en-US" sz="1400" dirty="0" err="1"/>
              <a:t>VIMBank</a:t>
            </a:r>
            <a:r>
              <a:rPr lang="en-US" sz="1400" dirty="0"/>
              <a:t> Research, 2024 – </a:t>
            </a:r>
            <a:r>
              <a:rPr lang="en-US" sz="1400" i="1" dirty="0" err="1"/>
              <a:t>ResearchGate</a:t>
            </a:r>
            <a:r>
              <a:rPr lang="en-US" sz="1400" i="1" dirty="0"/>
              <a:t>/IJ</a:t>
            </a:r>
            <a:r>
              <a:rPr lang="en-US" sz="1400" dirty="0"/>
              <a:t>)</a:t>
            </a:r>
          </a:p>
          <a:p>
            <a:pPr>
              <a:lnSpc>
                <a:spcPct val="120000"/>
              </a:lnSpc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47360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3906-DA4B-8EB6-BA07-A4E355F6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Theoretical Background</a:t>
            </a:r>
            <a:endParaRPr lang="en-US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Cognitive Psychology: Emotional Tagging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The Theory:</a:t>
            </a:r>
            <a:r>
              <a:rPr lang="en-US" sz="1400" dirty="0"/>
              <a:t> The brain remembers emotional events better than neutral ones. (</a:t>
            </a:r>
            <a:r>
              <a:rPr lang="en-US" sz="1400" dirty="0" err="1"/>
              <a:t>Deckker</a:t>
            </a:r>
            <a:r>
              <a:rPr lang="en-US" sz="1400" dirty="0"/>
              <a:t> &amp; </a:t>
            </a:r>
            <a:r>
              <a:rPr lang="en-US" sz="1400" dirty="0" err="1"/>
              <a:t>Sumanasekara</a:t>
            </a:r>
            <a:r>
              <a:rPr lang="en-US" sz="1400" dirty="0"/>
              <a:t>, 2025). 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MIRROR Application:</a:t>
            </a:r>
            <a:r>
              <a:rPr lang="en-US" sz="1400" dirty="0"/>
              <a:t> The system "tags" reflections with feelings. This ensures that a big personal breakthrough isn't "buried" under daily routine notes.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Information Science: Semantic Vector Space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The Theory:</a:t>
            </a:r>
            <a:r>
              <a:rPr lang="en-US" sz="1400" dirty="0"/>
              <a:t> Turning text into numbers (Vectors) based on </a:t>
            </a:r>
            <a:r>
              <a:rPr lang="en-US" sz="1400" b="1" dirty="0"/>
              <a:t>meaning</a:t>
            </a:r>
            <a:r>
              <a:rPr lang="en-US" sz="1400" dirty="0"/>
              <a:t>, not just keywords. (</a:t>
            </a:r>
            <a:r>
              <a:rPr lang="en-US" sz="1400" dirty="0" err="1"/>
              <a:t>VIMBank</a:t>
            </a:r>
            <a:r>
              <a:rPr lang="en-US" sz="1400" dirty="0"/>
              <a:t> Research, 2024). 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MIRROR Application:</a:t>
            </a:r>
            <a:r>
              <a:rPr lang="en-US" sz="1400" dirty="0"/>
              <a:t> Using math to find "distance" between entries. If you have a problem today, the AI mathematically finds a lesson you learned months ago that "matches" the current situation.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Computing Model: Retrieval-Augmented Generation (RAG)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The Theory:</a:t>
            </a:r>
            <a:r>
              <a:rPr lang="en-US" sz="1400" dirty="0"/>
              <a:t> Standard AI "forgets" long conversations. RAG connects the AI to a permanent database (Memory). (Smith, 2025). 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MIRROR Application:</a:t>
            </a:r>
            <a:r>
              <a:rPr lang="en-US" sz="1400" dirty="0"/>
              <a:t> Instead of the AI starting "fresh" every time, it looks into your </a:t>
            </a:r>
            <a:r>
              <a:rPr lang="en-US" sz="1400" b="1" dirty="0" err="1"/>
              <a:t>pgvector</a:t>
            </a:r>
            <a:r>
              <a:rPr lang="en-US" sz="1400" dirty="0"/>
              <a:t> database to remember your whole life story before it gives you advice.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E92BD8A6-9895-4618-98CC-84E1461086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19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any&#10;&#10;AI-generated content may be incorrect.">
            <a:extLst>
              <a:ext uri="{FF2B5EF4-FFF2-40B4-BE49-F238E27FC236}">
                <a16:creationId xmlns:a16="http://schemas.microsoft.com/office/drawing/2014/main" id="{C002CA43-0E15-0331-B5FC-ECEB230699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1308" y="0"/>
            <a:ext cx="12206996" cy="6858000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1CA073F9-C53D-4CA9-8A82-508A867A182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2E7664-E6F7-2142-0B43-00CA1A02F279}"/>
              </a:ext>
            </a:extLst>
          </p:cNvPr>
          <p:cNvSpPr txBox="1"/>
          <p:nvPr/>
        </p:nvSpPr>
        <p:spPr>
          <a:xfrm rot="16200000">
            <a:off x="-900210" y="4542537"/>
            <a:ext cx="392734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ea typeface="+mn-lt"/>
                <a:cs typeface="+mn-lt"/>
              </a:rPr>
              <a:t>Proposed System Architecture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35575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5060-9B7C-6156-2C19-CC2636BA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Research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358A9-484A-BF92-4DC0-FEF2873FC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sz="1400" b="1" dirty="0"/>
              <a:t>Research Design: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	Simulation Based Experimental Design:</a:t>
            </a: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400" dirty="0"/>
              <a:t>	Utilizing synthetic user personas and history to validate the pattern matching accuracy of the MIRROR engine without compromising real user privacy during the alpha phase.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 dirty="0"/>
              <a:t>Sampling &amp; Validation Strategy: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	Phase 1 (Automated Validation):</a:t>
            </a: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400" dirty="0"/>
              <a:t>	Deployment of a </a:t>
            </a:r>
            <a:r>
              <a:rPr lang="en-US" sz="1400" b="1" dirty="0"/>
              <a:t>Synthetic Dataset (100+ generated 'Aha!' moments)</a:t>
            </a:r>
            <a:r>
              <a:rPr lang="en-US" sz="1400" dirty="0"/>
              <a:t> to stress test the </a:t>
            </a:r>
            <a:r>
              <a:rPr lang="en-US" sz="1400" dirty="0" err="1"/>
              <a:t>pgvector</a:t>
            </a:r>
            <a:r>
              <a:rPr lang="en-US" sz="1400" dirty="0"/>
              <a:t> search.</a:t>
            </a:r>
          </a:p>
          <a:p>
            <a:pPr lvl="1">
              <a:buNone/>
            </a:pPr>
            <a:r>
              <a:rPr lang="en-US" sz="1400" b="1" dirty="0"/>
              <a:t>	Goal:</a:t>
            </a:r>
            <a:r>
              <a:rPr lang="en-US" sz="1400" dirty="0"/>
              <a:t> Measuring </a:t>
            </a:r>
            <a:r>
              <a:rPr lang="en-US" sz="1400" b="1" dirty="0"/>
              <a:t>Recall @ K</a:t>
            </a:r>
            <a:r>
              <a:rPr lang="en-US" sz="1400" dirty="0"/>
              <a:t> to evaluate how effectively the AI retrieves relevant past insights based on a new prompt.</a:t>
            </a:r>
          </a:p>
          <a:p>
            <a:pPr>
              <a:buNone/>
            </a:pPr>
            <a:r>
              <a:rPr lang="en-US" sz="1400" b="1" dirty="0"/>
              <a:t>	Phase 2 (Qualitative Review):</a:t>
            </a: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400" dirty="0"/>
              <a:t>	A "Limited Expert Review" with 3–5 peers to evaluate the UI/UX flow and the emotional relevance of the AI's "mirroring" logic.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Data Ingestion Sources: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	Primary Data:</a:t>
            </a:r>
            <a:r>
              <a:rPr lang="en-US" sz="1400" dirty="0"/>
              <a:t> User generated multimodal reflections (Text/Audio) processed via </a:t>
            </a:r>
            <a:r>
              <a:rPr lang="en-US" sz="1400" b="1" dirty="0"/>
              <a:t>VOSK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400" b="1" dirty="0"/>
              <a:t>	Secondary Data:</a:t>
            </a:r>
            <a:r>
              <a:rPr lang="en-US" sz="1400" dirty="0"/>
              <a:t> Controlled synthetic datasets designed to evaluate the </a:t>
            </a:r>
            <a:r>
              <a:rPr lang="en-US" sz="1400" b="1" dirty="0"/>
              <a:t>Retrieval Augmented Generation (RAG)</a:t>
            </a:r>
            <a:r>
              <a:rPr lang="en-US" sz="1400" dirty="0"/>
              <a:t> pipeline.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Key Performance Metrics: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	Semantic Precision:</a:t>
            </a:r>
            <a:r>
              <a:rPr lang="en-US" sz="1400" dirty="0"/>
              <a:t> Evaluation of the Cosine Similarity threshold to determine how accurately the AI identifies "dummy" historical insights.</a:t>
            </a:r>
          </a:p>
          <a:p>
            <a:pPr>
              <a:buNone/>
            </a:pPr>
            <a:r>
              <a:rPr lang="en-US" sz="1400" b="1" dirty="0"/>
              <a:t>	Orchestration Latency:</a:t>
            </a:r>
            <a:r>
              <a:rPr lang="en-US" sz="1400" dirty="0"/>
              <a:t> Measuring the end-to-end performance of the </a:t>
            </a:r>
            <a:r>
              <a:rPr lang="en-US" sz="1400" dirty="0" err="1"/>
              <a:t>microservices</a:t>
            </a:r>
            <a:r>
              <a:rPr lang="en-US" sz="1400" dirty="0"/>
              <a:t> (Auth -&gt; Gateway -&gt; AI Engine) during high-volume data ingestion.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172CDEEB-4C14-BC76-3800-FBA985F3AB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3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69A2-B029-BA9B-05CF-DCA595AE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8C50-8AD8-8637-9010-D67E67E66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Development Framework:</a:t>
            </a:r>
            <a:r>
              <a:rPr lang="en-US" sz="1400" dirty="0"/>
              <a:t>  Agile (Scrum) Methodology</a:t>
            </a:r>
          </a:p>
          <a:p>
            <a:pPr>
              <a:lnSpc>
                <a:spcPct val="100000"/>
              </a:lnSpc>
              <a:buNone/>
            </a:pPr>
            <a:r>
              <a:rPr lang="en-US" sz="1400" dirty="0"/>
              <a:t>Project execution via 2 week iterative sprints to ensure modular integration.</a:t>
            </a:r>
          </a:p>
          <a:p>
            <a:pPr>
              <a:lnSpc>
                <a:spcPct val="100000"/>
              </a:lnSpc>
              <a:buNone/>
            </a:pPr>
            <a:endParaRPr lang="en-US" sz="1400" b="1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Phase 1: Foundation &amp; Identity Infrastructure (Current Focus)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</a:t>
            </a:r>
            <a:r>
              <a:rPr lang="en-US" sz="1400" b="1" dirty="0" err="1"/>
              <a:t>Microservice</a:t>
            </a:r>
            <a:r>
              <a:rPr lang="en-US" sz="1400" b="1" dirty="0"/>
              <a:t> Orchestration:</a:t>
            </a:r>
            <a:r>
              <a:rPr lang="en-US" sz="1400" dirty="0"/>
              <a:t> Initializing the </a:t>
            </a:r>
            <a:r>
              <a:rPr lang="en-US" sz="1400" b="1" dirty="0"/>
              <a:t>Eureka Discovery Server</a:t>
            </a:r>
            <a:r>
              <a:rPr lang="en-US" sz="1400" dirty="0"/>
              <a:t> and </a:t>
            </a:r>
            <a:r>
              <a:rPr lang="en-US" sz="1400" b="1" dirty="0"/>
              <a:t>Spring Cloud Gateway</a:t>
            </a:r>
            <a:r>
              <a:rPr lang="en-US" sz="1400" dirty="0"/>
              <a:t> for service registry and secure routing.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Security Layer:</a:t>
            </a:r>
            <a:r>
              <a:rPr lang="en-US" sz="1400" dirty="0"/>
              <a:t> Implementing the </a:t>
            </a:r>
            <a:r>
              <a:rPr lang="en-US" sz="1400" b="1" dirty="0"/>
              <a:t>Auth Service</a:t>
            </a:r>
            <a:r>
              <a:rPr lang="en-US" sz="1400" dirty="0"/>
              <a:t> to manage user registration and stateless session handling via </a:t>
            </a:r>
            <a:r>
              <a:rPr lang="en-US" sz="1400" b="1" dirty="0"/>
              <a:t>JWT</a:t>
            </a:r>
            <a:r>
              <a:rPr lang="en-US" sz="14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Frontend Scaffolding:</a:t>
            </a:r>
            <a:r>
              <a:rPr lang="en-US" sz="1400" dirty="0"/>
              <a:t> Developing the </a:t>
            </a:r>
            <a:r>
              <a:rPr lang="en-US" sz="1400" b="1" dirty="0"/>
              <a:t>Ionic/Angular</a:t>
            </a:r>
            <a:r>
              <a:rPr lang="en-US" sz="1400" dirty="0"/>
              <a:t> shell to establish connectivity between the presentation and backend layers.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Phase 2: Multimodal Ingestion &amp; Persistence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Capture UI:</a:t>
            </a:r>
            <a:r>
              <a:rPr lang="en-US" sz="1400" dirty="0"/>
              <a:t> Building the primary reflection interface for mobile and web.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Voice-to-Text:</a:t>
            </a:r>
            <a:r>
              <a:rPr lang="en-US" sz="1400" dirty="0"/>
              <a:t> Integrating the </a:t>
            </a:r>
            <a:r>
              <a:rPr lang="en-US" sz="1400" b="1" dirty="0"/>
              <a:t>VOSK</a:t>
            </a:r>
            <a:r>
              <a:rPr lang="en-US" sz="1400" dirty="0"/>
              <a:t> engine to perform local, privacy-focused transformation of audio into text.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Semantic Storage:</a:t>
            </a:r>
            <a:r>
              <a:rPr lang="en-US" sz="1400" dirty="0"/>
              <a:t> Configuring </a:t>
            </a:r>
            <a:r>
              <a:rPr lang="en-US" sz="1400" b="1" dirty="0" err="1"/>
              <a:t>PostgreSQL</a:t>
            </a:r>
            <a:r>
              <a:rPr lang="en-US" sz="1400" b="1" dirty="0"/>
              <a:t> with </a:t>
            </a:r>
            <a:r>
              <a:rPr lang="en-US" sz="1400" b="1" dirty="0" err="1"/>
              <a:t>pgvector</a:t>
            </a:r>
            <a:r>
              <a:rPr lang="en-US" sz="1400" dirty="0"/>
              <a:t> to enable high-dimensional embedding storage for user memories.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ADA46358-549D-068C-0F98-9A8DFE2D3A7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5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69A2-B029-BA9B-05CF-DCA595AE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8C50-8AD8-8637-9010-D67E67E66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Phase 3: Intelligence &amp; Mirroring Engine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Contextual Memory:</a:t>
            </a:r>
            <a:r>
              <a:rPr lang="en-US" sz="1400" dirty="0"/>
              <a:t> Developing the </a:t>
            </a:r>
            <a:r>
              <a:rPr lang="en-US" sz="1400" b="1" dirty="0"/>
              <a:t>RAG (Retrieval-Augmented Generation)</a:t>
            </a:r>
            <a:r>
              <a:rPr lang="en-US" sz="1400" dirty="0"/>
              <a:t> pipeline to link the vector database with the LLM.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Pattern Synthesis:</a:t>
            </a:r>
            <a:r>
              <a:rPr lang="en-US" sz="1400" dirty="0"/>
              <a:t> Programming the </a:t>
            </a:r>
            <a:r>
              <a:rPr lang="en-US" sz="1400" b="1" dirty="0"/>
              <a:t>AI Engine</a:t>
            </a:r>
            <a:r>
              <a:rPr lang="en-US" sz="1400" dirty="0"/>
              <a:t> to perform semantic search and identify recurring emotional or behavioral themes.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Proactive Mirroring:</a:t>
            </a:r>
            <a:r>
              <a:rPr lang="en-US" sz="1400" dirty="0"/>
              <a:t> Implementing the logic to "surface" past breakthroughs during new entries to reinforce user growth.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Phase 4: Validation &amp; Optimization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Simulation Testing:</a:t>
            </a:r>
            <a:r>
              <a:rPr lang="en-US" sz="1400" dirty="0"/>
              <a:t> Stress-testing the RAG loop using a </a:t>
            </a:r>
            <a:r>
              <a:rPr lang="en-US" sz="1400" b="1" dirty="0"/>
              <a:t>Synthetic Dataset of 100+ "Aha!" moments</a:t>
            </a:r>
            <a:r>
              <a:rPr lang="en-US" sz="1400" dirty="0"/>
              <a:t> to measure Recall @ K accuracy.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Performance Tuning:</a:t>
            </a:r>
            <a:r>
              <a:rPr lang="en-US" sz="1400" dirty="0"/>
              <a:t> Optimizing </a:t>
            </a:r>
            <a:r>
              <a:rPr lang="en-US" sz="1400" dirty="0" err="1"/>
              <a:t>microservice</a:t>
            </a:r>
            <a:r>
              <a:rPr lang="en-US" sz="1400" dirty="0"/>
              <a:t> latency and vector search speed.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Final Deployment:</a:t>
            </a:r>
            <a:r>
              <a:rPr lang="en-US" sz="1400" dirty="0"/>
              <a:t> Production build of the </a:t>
            </a:r>
            <a:r>
              <a:rPr lang="en-US" sz="1400" b="1" dirty="0"/>
              <a:t>Android APK</a:t>
            </a:r>
            <a:r>
              <a:rPr lang="en-US" sz="1400" dirty="0"/>
              <a:t> and live hosting of the </a:t>
            </a:r>
            <a:r>
              <a:rPr lang="en-US" sz="1400" dirty="0" err="1"/>
              <a:t>microservices</a:t>
            </a:r>
            <a:r>
              <a:rPr lang="en-US" sz="1400" dirty="0"/>
              <a:t> ecosystem.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ADA46358-549D-068C-0F98-9A8DFE2D3A7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54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69A2-B029-BA9B-05CF-DCA595AE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8C50-8AD8-8637-9010-D67E67E66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 err="1"/>
              <a:t>Deckker</a:t>
            </a:r>
            <a:r>
              <a:rPr lang="en-US" sz="1400" b="1" dirty="0"/>
              <a:t>, D. &amp; </a:t>
            </a:r>
            <a:r>
              <a:rPr lang="en-US" sz="1400" b="1" dirty="0" err="1"/>
              <a:t>Sumanasekara</a:t>
            </a:r>
            <a:r>
              <a:rPr lang="en-US" sz="1400" b="1" dirty="0"/>
              <a:t>, S. (2025).</a:t>
            </a:r>
            <a:r>
              <a:rPr lang="en-US" sz="1400" dirty="0"/>
              <a:t> Emotional AI for Student Motivation and Retention: A Systematic Review. </a:t>
            </a:r>
            <a:r>
              <a:rPr lang="en-US" sz="1400" i="1" dirty="0"/>
              <a:t>EPRA International Journal of Global Economic Light (JGEL)</a:t>
            </a:r>
            <a:r>
              <a:rPr lang="en-US" sz="1400" dirty="0"/>
              <a:t>, 11(3). </a:t>
            </a:r>
            <a:r>
              <a:rPr lang="en-US" sz="1400" b="1" dirty="0"/>
              <a:t>[Scopus Indexed]</a:t>
            </a:r>
            <a:r>
              <a:rPr lang="en-US" sz="1400" dirty="0"/>
              <a:t> 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	DOI:</a:t>
            </a:r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https://doi.org/10.36713/epra20564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dirty="0"/>
              <a:t>	</a:t>
            </a:r>
            <a:r>
              <a:rPr lang="en-US" sz="1400" b="1" dirty="0"/>
              <a:t>Core Theory:</a:t>
            </a:r>
            <a:r>
              <a:rPr lang="en-US" sz="1400" dirty="0"/>
              <a:t> Emotional Salience &amp; Memory Tagging.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2.	Smith, F. (2025).</a:t>
            </a:r>
            <a:r>
              <a:rPr lang="en-US" sz="1400" dirty="0"/>
              <a:t> Toward Stable Long-Term Memory in LLMs: Decay, Drift, and Distributed Continuity. </a:t>
            </a:r>
            <a:r>
              <a:rPr lang="en-US" sz="1400" i="1" dirty="0"/>
              <a:t>IEEE </a:t>
            </a:r>
            <a:r>
              <a:rPr lang="en-US" sz="1400" i="1" dirty="0" err="1"/>
              <a:t>Xplore</a:t>
            </a:r>
            <a:r>
              <a:rPr lang="en-US" sz="1400" i="1" dirty="0"/>
              <a:t> / Computer Society Technical Repository</a:t>
            </a:r>
            <a:r>
              <a:rPr lang="en-US" sz="1400" dirty="0"/>
              <a:t>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	Link:</a:t>
            </a:r>
            <a:r>
              <a:rPr lang="en-US" sz="1400" dirty="0"/>
              <a:t> </a:t>
            </a:r>
            <a:r>
              <a:rPr lang="en-US" sz="1400" dirty="0">
                <a:hlinkClick r:id="rId3"/>
              </a:rPr>
              <a:t>https://medium.com/@frederick-smith/toward-stable-long-term-memory-in-llms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None/>
            </a:pPr>
            <a:r>
              <a:rPr lang="en-IN" sz="1400" dirty="0"/>
              <a:t>	</a:t>
            </a:r>
            <a:r>
              <a:rPr lang="en-US" sz="1400" b="1" dirty="0"/>
              <a:t>Core Theory:</a:t>
            </a:r>
            <a:r>
              <a:rPr lang="en-US" sz="1400" dirty="0"/>
              <a:t> Retrieval-Augmented Generation (RAG) &amp; Memory Decay.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3.	</a:t>
            </a:r>
            <a:r>
              <a:rPr lang="en-US" sz="1400" b="1" dirty="0" err="1"/>
              <a:t>Cachia</a:t>
            </a:r>
            <a:r>
              <a:rPr lang="en-US" sz="1400" b="1" dirty="0"/>
              <a:t>, J. Y. A., Zhao, X., &amp; De </a:t>
            </a:r>
            <a:r>
              <a:rPr lang="en-US" sz="1400" b="1" dirty="0" err="1"/>
              <a:t>Freitas</a:t>
            </a:r>
            <a:r>
              <a:rPr lang="en-US" sz="1400" b="1" dirty="0"/>
              <a:t>, J. (2025).</a:t>
            </a:r>
            <a:r>
              <a:rPr lang="en-US" sz="1400" dirty="0"/>
              <a:t> AI for Proactive Mental Health: A Multi-Institutional, Longitudinal, Randomized Controlled Trial. </a:t>
            </a:r>
            <a:r>
              <a:rPr lang="en-US" sz="1400" i="1" dirty="0"/>
              <a:t>Harvard Business School Working Paper</a:t>
            </a:r>
            <a:r>
              <a:rPr lang="en-US" sz="1400" dirty="0"/>
              <a:t>, No. 26-030. 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	Full PDF: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https://www.hbs.edu/ris/download.aspx?name=26-030.pdf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None/>
            </a:pPr>
            <a:r>
              <a:rPr lang="en-IN" sz="1400" dirty="0"/>
              <a:t>	</a:t>
            </a:r>
            <a:r>
              <a:rPr lang="en-US" sz="1400" b="1" dirty="0"/>
              <a:t>Core Theory:</a:t>
            </a:r>
            <a:r>
              <a:rPr lang="en-US" sz="1400" dirty="0"/>
              <a:t> Proactive Logic &amp; Longitudinal Growth Analysis.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4.	</a:t>
            </a:r>
            <a:r>
              <a:rPr lang="en-US" sz="1400" b="1" dirty="0" err="1"/>
              <a:t>VIMBank</a:t>
            </a:r>
            <a:r>
              <a:rPr lang="en-US" sz="1400" b="1" dirty="0"/>
              <a:t> Research. (2024).</a:t>
            </a:r>
            <a:r>
              <a:rPr lang="en-US" sz="1400" dirty="0"/>
              <a:t> Vector Storage Based Long-term Memory Research on LLM. </a:t>
            </a:r>
            <a:r>
              <a:rPr lang="en-US" sz="1400" i="1" dirty="0"/>
              <a:t>International Journal of Advanced Network Monitoring and Controls</a:t>
            </a:r>
            <a:r>
              <a:rPr lang="en-US" sz="1400" dirty="0"/>
              <a:t>, 9(3).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	DOI:</a:t>
            </a:r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https://doi.org/10.2478/ijanmc-2024-0029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dirty="0"/>
              <a:t>	</a:t>
            </a:r>
            <a:r>
              <a:rPr lang="en-US" sz="1400" b="1" dirty="0"/>
              <a:t>Core Theory:</a:t>
            </a:r>
            <a:r>
              <a:rPr lang="en-US" sz="1400" dirty="0"/>
              <a:t> High-Dimensional Semantic Vector Space &amp; Persistence.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ADA46358-549D-068C-0F98-9A8DFE2D3A7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54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F3B1-DFD2-C2C9-DFA9-B99FF9F8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102"/>
            <a:ext cx="10515600" cy="1325563"/>
          </a:xfrm>
        </p:spPr>
        <p:txBody>
          <a:bodyPr/>
          <a:lstStyle/>
          <a:p>
            <a:pPr algn="ctr"/>
            <a:r>
              <a:rPr lang="en-US"/>
              <a:t>Thank You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AB45649-46DB-63EE-0C5A-735D6229B4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EC4A68-BB44-5269-E7B8-9892C66A1B6A}"/>
              </a:ext>
            </a:extLst>
          </p:cNvPr>
          <p:cNvSpPr txBox="1"/>
          <p:nvPr/>
        </p:nvSpPr>
        <p:spPr>
          <a:xfrm>
            <a:off x="6310314" y="3500438"/>
            <a:ext cx="578185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000" dirty="0"/>
              <a:t>		</a:t>
            </a:r>
            <a:endParaRPr lang="en-US" sz="1000" b="1" dirty="0"/>
          </a:p>
          <a:p>
            <a:pPr>
              <a:buNone/>
            </a:pPr>
            <a:r>
              <a:rPr lang="en-US" sz="1000" dirty="0"/>
              <a:t>		</a:t>
            </a:r>
            <a:endParaRPr lang="en-US" sz="1000" b="1" dirty="0"/>
          </a:p>
          <a:p>
            <a:pPr>
              <a:buNone/>
            </a:pPr>
            <a:r>
              <a:rPr lang="en-US" sz="1000" dirty="0"/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F6B90-425E-620C-35C1-D917801918D8}"/>
              </a:ext>
            </a:extLst>
          </p:cNvPr>
          <p:cNvSpPr txBox="1"/>
          <p:nvPr/>
        </p:nvSpPr>
        <p:spPr>
          <a:xfrm>
            <a:off x="1059230" y="6165953"/>
            <a:ext cx="1127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MIRЯOЯ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1CE2E-1203-9DE5-A7BC-89CF2B772871}"/>
              </a:ext>
            </a:extLst>
          </p:cNvPr>
          <p:cNvSpPr txBox="1"/>
          <p:nvPr/>
        </p:nvSpPr>
        <p:spPr>
          <a:xfrm>
            <a:off x="7723226" y="6167801"/>
            <a:ext cx="3873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Prabhu</a:t>
            </a:r>
            <a:r>
              <a:rPr lang="en-US" dirty="0"/>
              <a:t> </a:t>
            </a:r>
            <a:r>
              <a:rPr lang="en-US" dirty="0" err="1"/>
              <a:t>Teja</a:t>
            </a:r>
            <a:r>
              <a:rPr lang="en-US" dirty="0"/>
              <a:t> </a:t>
            </a:r>
            <a:r>
              <a:rPr lang="en-US" dirty="0" err="1"/>
              <a:t>Pamula</a:t>
            </a:r>
            <a:r>
              <a:rPr lang="en-US" dirty="0"/>
              <a:t> | 24EMCA1237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C4A68-BB44-5269-E7B8-9892C66A1B6A}"/>
              </a:ext>
            </a:extLst>
          </p:cNvPr>
          <p:cNvSpPr txBox="1"/>
          <p:nvPr/>
        </p:nvSpPr>
        <p:spPr>
          <a:xfrm>
            <a:off x="809588" y="3214686"/>
            <a:ext cx="104967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Questions and Feedback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340" y="5286388"/>
          <a:ext cx="4643470" cy="755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Repository: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3"/>
                        </a:rPr>
                        <a:t>https://github.com/prabhu-tejaa/MIRROR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Web Interface: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4"/>
                        </a:rPr>
                        <a:t>https://projectmirror.tech/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Android Build: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5"/>
                        </a:rPr>
                        <a:t>https://github.com/prabhu-tejaa/MIRROR/releases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1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1419</TotalTime>
  <Words>192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MIRЯOЯ An AI Powered Memory and Emotional Analytics System</vt:lpstr>
      <vt:lpstr>Outline</vt:lpstr>
      <vt:lpstr>Problem Recap</vt:lpstr>
      <vt:lpstr>Literature Review</vt:lpstr>
      <vt:lpstr>Theoretical Background</vt:lpstr>
      <vt:lpstr>PowerPoint Presentation</vt:lpstr>
      <vt:lpstr>Research Design</vt:lpstr>
      <vt:lpstr>Project Plan</vt:lpstr>
      <vt:lpstr>Project Plan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Shelly Pranuti</cp:lastModifiedBy>
  <cp:revision>52</cp:revision>
  <dcterms:created xsi:type="dcterms:W3CDTF">2013-07-15T20:26:40Z</dcterms:created>
  <dcterms:modified xsi:type="dcterms:W3CDTF">2026-05-09T17:02:34Z</dcterms:modified>
</cp:coreProperties>
</file>