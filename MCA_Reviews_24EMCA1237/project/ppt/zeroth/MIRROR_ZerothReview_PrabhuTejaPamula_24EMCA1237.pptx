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4" r:id="rId3"/>
    <p:sldId id="262" r:id="rId4"/>
    <p:sldId id="263" r:id="rId5"/>
    <p:sldId id="267" r:id="rId6"/>
    <p:sldId id="268" r:id="rId7"/>
    <p:sldId id="269" r:id="rId8"/>
    <p:sldId id="270"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5613A7-BAE3-F39B-1D13-6A761F389CCB}" v="7" dt="2026-05-10T08:03:29.4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B1E15-52DC-FA93-5EDC-0DD2D03CD769}"/>
              </a:ext>
            </a:extLst>
          </p:cNvPr>
          <p:cNvSpPr>
            <a:spLocks noGrp="1"/>
          </p:cNvSpPr>
          <p:nvPr>
            <p:ph type="title"/>
          </p:nvPr>
        </p:nvSpPr>
        <p:spPr>
          <a:xfrm>
            <a:off x="838200" y="2486602"/>
            <a:ext cx="10515600" cy="1325563"/>
          </a:xfrm>
        </p:spPr>
        <p:txBody>
          <a:bodyPr/>
          <a:lstStyle/>
          <a:p>
            <a:pPr algn="ctr">
              <a:spcBef>
                <a:spcPts val="1000"/>
              </a:spcBef>
            </a:pPr>
            <a:r>
              <a:rPr lang="en-US" b="1">
                <a:ea typeface="+mj-lt"/>
                <a:cs typeface="+mj-lt"/>
              </a:rPr>
              <a:t>MIRЯOЯ</a:t>
            </a:r>
            <a:endParaRPr lang="en-US" b="1"/>
          </a:p>
          <a:p>
            <a:pPr algn="ctr">
              <a:spcBef>
                <a:spcPts val="1000"/>
              </a:spcBef>
            </a:pPr>
            <a:r>
              <a:rPr lang="en-US" sz="2800">
                <a:latin typeface="Aptos"/>
              </a:rPr>
              <a:t>An AI Powered Memory and Emotional Analytics System</a:t>
            </a:r>
          </a:p>
        </p:txBody>
      </p:sp>
      <p:pic>
        <p:nvPicPr>
          <p:cNvPr id="8" name="Picture 7" descr="A blue and white logo&#10;&#10;AI-generated content may be incorrect.">
            <a:extLst>
              <a:ext uri="{FF2B5EF4-FFF2-40B4-BE49-F238E27FC236}">
                <a16:creationId xmlns:a16="http://schemas.microsoft.com/office/drawing/2014/main" id="{B529B9D4-FE21-38D0-B570-12FA1A7F049A}"/>
              </a:ext>
            </a:extLst>
          </p:cNvPr>
          <p:cNvPicPr>
            <a:picLocks noChangeAspect="1"/>
          </p:cNvPicPr>
          <p:nvPr/>
        </p:nvPicPr>
        <p:blipFill>
          <a:blip r:embed="rId2"/>
          <a:stretch>
            <a:fillRect/>
          </a:stretch>
        </p:blipFill>
        <p:spPr>
          <a:xfrm>
            <a:off x="204305" y="168413"/>
            <a:ext cx="861392" cy="861392"/>
          </a:xfrm>
          <a:prstGeom prst="rect">
            <a:avLst/>
          </a:prstGeom>
        </p:spPr>
      </p:pic>
      <p:sp>
        <p:nvSpPr>
          <p:cNvPr id="7" name="Title 1">
            <a:extLst>
              <a:ext uri="{FF2B5EF4-FFF2-40B4-BE49-F238E27FC236}">
                <a16:creationId xmlns:a16="http://schemas.microsoft.com/office/drawing/2014/main" id="{AC281326-64B2-DBD9-01F6-C292DC1BE5BE}"/>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ea typeface="+mj-lt"/>
                <a:cs typeface="+mj-lt"/>
              </a:rPr>
              <a:t>Project</a:t>
            </a:r>
            <a:endParaRPr lang="en-US"/>
          </a:p>
        </p:txBody>
      </p:sp>
      <p:sp>
        <p:nvSpPr>
          <p:cNvPr id="5" name="TextBox 5">
            <a:extLst>
              <a:ext uri="{FF2B5EF4-FFF2-40B4-BE49-F238E27FC236}">
                <a16:creationId xmlns:a16="http://schemas.microsoft.com/office/drawing/2014/main" id="{4AEE31ED-ED9B-5090-0324-D67B1B6FD984}"/>
              </a:ext>
            </a:extLst>
          </p:cNvPr>
          <p:cNvSpPr txBox="1"/>
          <p:nvPr/>
        </p:nvSpPr>
        <p:spPr>
          <a:xfrm>
            <a:off x="371211" y="6108047"/>
            <a:ext cx="1757043"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Zeroth Review </a:t>
            </a:r>
          </a:p>
          <a:p>
            <a:r>
              <a:rPr lang="en-US" sz="1400"/>
              <a:t>28 March 2026</a:t>
            </a:r>
          </a:p>
        </p:txBody>
      </p:sp>
      <p:sp>
        <p:nvSpPr>
          <p:cNvPr id="19" name="Content Placeholder 2">
            <a:extLst>
              <a:ext uri="{FF2B5EF4-FFF2-40B4-BE49-F238E27FC236}">
                <a16:creationId xmlns:a16="http://schemas.microsoft.com/office/drawing/2014/main" id="{6E27BA5A-FCDD-026C-4548-16053C39D2C5}"/>
              </a:ext>
            </a:extLst>
          </p:cNvPr>
          <p:cNvSpPr>
            <a:spLocks noGrp="1"/>
          </p:cNvSpPr>
          <p:nvPr/>
        </p:nvSpPr>
        <p:spPr>
          <a:xfrm>
            <a:off x="838200" y="4605192"/>
            <a:ext cx="3233305" cy="1970089"/>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latin typeface="Calibri"/>
                <a:ea typeface="Calibri"/>
                <a:cs typeface="Calibri"/>
              </a:rPr>
              <a:t>Presented by: </a:t>
            </a:r>
          </a:p>
          <a:p>
            <a:pPr marL="0" indent="0">
              <a:buNone/>
            </a:pPr>
            <a:r>
              <a:rPr lang="en-US" b="1">
                <a:latin typeface="Calibri"/>
                <a:ea typeface="Calibri"/>
                <a:cs typeface="Calibri"/>
              </a:rPr>
              <a:t>Prabhu Teja Pamula </a:t>
            </a:r>
            <a:endParaRPr lang="en-US">
              <a:latin typeface="Calibri"/>
              <a:ea typeface="Calibri"/>
              <a:cs typeface="Calibri"/>
            </a:endParaRPr>
          </a:p>
          <a:p>
            <a:pPr marL="0" indent="0">
              <a:buNone/>
            </a:pPr>
            <a:r>
              <a:rPr lang="en-US" sz="1800">
                <a:latin typeface="Calibri"/>
                <a:ea typeface="Calibri"/>
                <a:cs typeface="Calibri"/>
              </a:rPr>
              <a:t>24EMCA1237</a:t>
            </a:r>
          </a:p>
          <a:p>
            <a:pPr marL="0" indent="0">
              <a:buNone/>
            </a:pPr>
            <a:endParaRPr lang="en-US" sz="1800">
              <a:latin typeface="Calibri"/>
              <a:ea typeface="Calibri"/>
              <a:cs typeface="Calibri"/>
            </a:endParaRPr>
          </a:p>
          <a:p>
            <a:pPr marL="0" indent="0">
              <a:buNone/>
            </a:pPr>
            <a:endParaRPr lang="en-US" sz="1800">
              <a:latin typeface="Calibri"/>
              <a:ea typeface="Calibri"/>
              <a:cs typeface="Calibri"/>
            </a:endParaRPr>
          </a:p>
        </p:txBody>
      </p:sp>
      <p:sp>
        <p:nvSpPr>
          <p:cNvPr id="20" name="Content Placeholder 3">
            <a:extLst>
              <a:ext uri="{FF2B5EF4-FFF2-40B4-BE49-F238E27FC236}">
                <a16:creationId xmlns:a16="http://schemas.microsoft.com/office/drawing/2014/main" id="{9B98D82D-B30C-3ABD-28CB-C464E815B492}"/>
              </a:ext>
            </a:extLst>
          </p:cNvPr>
          <p:cNvSpPr>
            <a:spLocks noGrp="1"/>
          </p:cNvSpPr>
          <p:nvPr/>
        </p:nvSpPr>
        <p:spPr>
          <a:xfrm>
            <a:off x="8267699" y="4432011"/>
            <a:ext cx="3086101" cy="2143270"/>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latin typeface="Calibri"/>
                <a:ea typeface="Calibri"/>
                <a:cs typeface="Calibri"/>
              </a:rPr>
              <a:t>Seminar Guide: </a:t>
            </a:r>
            <a:endParaRPr lang="en-US"/>
          </a:p>
          <a:p>
            <a:pPr marL="0" indent="0">
              <a:buNone/>
            </a:pPr>
            <a:r>
              <a:rPr lang="en-US" b="1">
                <a:latin typeface="Calibri"/>
                <a:ea typeface="Calibri"/>
                <a:cs typeface="Calibri"/>
              </a:rPr>
              <a:t>Dr. Brijendra Singh</a:t>
            </a:r>
            <a:r>
              <a:rPr lang="en-US">
                <a:latin typeface="Calibri"/>
                <a:ea typeface="Calibri"/>
                <a:cs typeface="Calibri"/>
              </a:rPr>
              <a:t> </a:t>
            </a:r>
          </a:p>
          <a:p>
            <a:pPr marL="0" indent="0">
              <a:buNone/>
            </a:pPr>
            <a:r>
              <a:rPr lang="en-US" sz="1800">
                <a:latin typeface="Calibri"/>
                <a:ea typeface="Calibri"/>
                <a:cs typeface="Calibri"/>
              </a:rPr>
              <a:t>Associate Professor</a:t>
            </a:r>
          </a:p>
          <a:p>
            <a:pPr marL="0" indent="0" algn="r">
              <a:buNone/>
            </a:pPr>
            <a:endParaRPr lang="en-US"/>
          </a:p>
          <a:p>
            <a:pPr marL="0" indent="0" algn="r">
              <a:buNone/>
            </a:pPr>
            <a:endParaRPr lang="en-US" sz="1800">
              <a:latin typeface="Calibri"/>
              <a:ea typeface="Calibri"/>
              <a:cs typeface="Calibri"/>
            </a:endParaRPr>
          </a:p>
        </p:txBody>
      </p:sp>
    </p:spTree>
    <p:extLst>
      <p:ext uri="{BB962C8B-B14F-4D97-AF65-F5344CB8AC3E}">
        <p14:creationId xmlns:p14="http://schemas.microsoft.com/office/powerpoint/2010/main" val="505409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D52B-49E1-8908-DA94-A968BE76BF76}"/>
              </a:ext>
            </a:extLst>
          </p:cNvPr>
          <p:cNvSpPr>
            <a:spLocks noGrp="1"/>
          </p:cNvSpPr>
          <p:nvPr>
            <p:ph type="title"/>
          </p:nvPr>
        </p:nvSpPr>
        <p:spPr/>
        <p:txBody>
          <a:bodyPr/>
          <a:lstStyle/>
          <a:p>
            <a:pPr algn="ctr"/>
            <a:r>
              <a:rPr lang="en-US">
                <a:ea typeface="+mj-lt"/>
                <a:cs typeface="+mj-lt"/>
              </a:rPr>
              <a:t>Outline</a:t>
            </a:r>
            <a:endParaRPr lang="en-US"/>
          </a:p>
        </p:txBody>
      </p:sp>
      <p:sp>
        <p:nvSpPr>
          <p:cNvPr id="3" name="Content Placeholder 2">
            <a:extLst>
              <a:ext uri="{FF2B5EF4-FFF2-40B4-BE49-F238E27FC236}">
                <a16:creationId xmlns:a16="http://schemas.microsoft.com/office/drawing/2014/main" id="{D19A153C-0B46-5669-321E-F07DFD016A27}"/>
              </a:ext>
            </a:extLst>
          </p:cNvPr>
          <p:cNvSpPr>
            <a:spLocks noGrp="1"/>
          </p:cNvSpPr>
          <p:nvPr>
            <p:ph idx="1"/>
          </p:nvPr>
        </p:nvSpPr>
        <p:spPr/>
        <p:txBody>
          <a:bodyPr vert="horz" lIns="91440" tIns="45720" rIns="91440" bIns="45720" rtlCol="0" anchor="t">
            <a:normAutofit lnSpcReduction="10000"/>
          </a:bodyPr>
          <a:lstStyle/>
          <a:p>
            <a:pPr marL="514350" indent="-514350">
              <a:lnSpc>
                <a:spcPct val="150000"/>
              </a:lnSpc>
              <a:buAutoNum type="arabicPeriod"/>
            </a:pPr>
            <a:r>
              <a:rPr lang="en-US">
                <a:ea typeface="+mn-lt"/>
                <a:cs typeface="+mn-lt"/>
              </a:rPr>
              <a:t>Problem Identification</a:t>
            </a:r>
            <a:endParaRPr lang="en-US"/>
          </a:p>
          <a:p>
            <a:pPr marL="514350" indent="-514350">
              <a:lnSpc>
                <a:spcPct val="150000"/>
              </a:lnSpc>
              <a:buAutoNum type="arabicPeriod"/>
            </a:pPr>
            <a:r>
              <a:rPr lang="en-US">
                <a:ea typeface="+mn-lt"/>
                <a:cs typeface="+mn-lt"/>
              </a:rPr>
              <a:t>Problem Relevance</a:t>
            </a:r>
          </a:p>
          <a:p>
            <a:pPr marL="514350" indent="-514350">
              <a:lnSpc>
                <a:spcPct val="150000"/>
              </a:lnSpc>
              <a:buAutoNum type="arabicPeriod"/>
            </a:pPr>
            <a:r>
              <a:rPr lang="en-US"/>
              <a:t>Project Objective</a:t>
            </a:r>
          </a:p>
          <a:p>
            <a:pPr marL="514350" indent="-514350">
              <a:lnSpc>
                <a:spcPct val="150000"/>
              </a:lnSpc>
              <a:buAutoNum type="arabicPeriod"/>
            </a:pPr>
            <a:r>
              <a:rPr lang="en-US"/>
              <a:t>Project Scope</a:t>
            </a:r>
          </a:p>
          <a:p>
            <a:pPr marL="514350" indent="-514350">
              <a:lnSpc>
                <a:spcPct val="150000"/>
              </a:lnSpc>
              <a:buAutoNum type="arabicPeriod"/>
            </a:pPr>
            <a:r>
              <a:rPr lang="en-US">
                <a:ea typeface="+mn-lt"/>
                <a:cs typeface="+mn-lt"/>
              </a:rPr>
              <a:t>Methodology/Approach</a:t>
            </a:r>
          </a:p>
          <a:p>
            <a:pPr marL="514350" indent="-514350">
              <a:lnSpc>
                <a:spcPct val="150000"/>
              </a:lnSpc>
              <a:buAutoNum type="arabicPeriod"/>
            </a:pPr>
            <a:r>
              <a:rPr lang="en-US">
                <a:ea typeface="+mn-lt"/>
                <a:cs typeface="+mn-lt"/>
              </a:rPr>
              <a:t>Proposed System Architecture</a:t>
            </a:r>
            <a:endParaRPr lang="en-US"/>
          </a:p>
        </p:txBody>
      </p:sp>
      <p:pic>
        <p:nvPicPr>
          <p:cNvPr id="5" name="Picture 4" descr="A blue and white logo&#10;&#10;AI-generated content may be incorrect.">
            <a:extLst>
              <a:ext uri="{FF2B5EF4-FFF2-40B4-BE49-F238E27FC236}">
                <a16:creationId xmlns:a16="http://schemas.microsoft.com/office/drawing/2014/main" id="{D9F89D30-BF79-9EC8-AADC-8361E3974441}"/>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382427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F39B-93FF-A16F-44E6-EDB620B2C52E}"/>
              </a:ext>
            </a:extLst>
          </p:cNvPr>
          <p:cNvSpPr>
            <a:spLocks noGrp="1"/>
          </p:cNvSpPr>
          <p:nvPr>
            <p:ph type="title"/>
          </p:nvPr>
        </p:nvSpPr>
        <p:spPr/>
        <p:txBody>
          <a:bodyPr/>
          <a:lstStyle/>
          <a:p>
            <a:pPr algn="ctr"/>
            <a:r>
              <a:rPr lang="en-US">
                <a:ea typeface="+mj-lt"/>
                <a:cs typeface="+mj-lt"/>
              </a:rPr>
              <a:t>Problem Identification</a:t>
            </a:r>
            <a:endParaRPr lang="en-US"/>
          </a:p>
        </p:txBody>
      </p:sp>
      <p:sp>
        <p:nvSpPr>
          <p:cNvPr id="3" name="Content Placeholder 2">
            <a:extLst>
              <a:ext uri="{FF2B5EF4-FFF2-40B4-BE49-F238E27FC236}">
                <a16:creationId xmlns:a16="http://schemas.microsoft.com/office/drawing/2014/main" id="{0450ED45-B10D-4EF7-2B32-5856F981D195}"/>
              </a:ext>
            </a:extLst>
          </p:cNvPr>
          <p:cNvSpPr>
            <a:spLocks noGrp="1"/>
          </p:cNvSpPr>
          <p:nvPr>
            <p:ph idx="1"/>
          </p:nvPr>
        </p:nvSpPr>
        <p:spPr/>
        <p:txBody>
          <a:bodyPr vert="horz" lIns="91440" tIns="45720" rIns="91440" bIns="45720" rtlCol="0" anchor="t">
            <a:normAutofit fontScale="70000" lnSpcReduction="20000"/>
          </a:bodyPr>
          <a:lstStyle/>
          <a:p>
            <a:pPr marL="0" indent="0">
              <a:lnSpc>
                <a:spcPct val="160000"/>
              </a:lnSpc>
              <a:buNone/>
            </a:pPr>
            <a:r>
              <a:rPr lang="en-US" sz="2200" b="1">
                <a:ea typeface="+mn-lt"/>
                <a:cs typeface="+mn-lt"/>
              </a:rPr>
              <a:t>The Core Problem:</a:t>
            </a:r>
            <a:endParaRPr lang="en-US">
              <a:ea typeface="+mn-lt"/>
              <a:cs typeface="+mn-lt"/>
            </a:endParaRPr>
          </a:p>
          <a:p>
            <a:pPr marL="0" indent="0">
              <a:lnSpc>
                <a:spcPct val="160000"/>
              </a:lnSpc>
              <a:buNone/>
            </a:pPr>
            <a:r>
              <a:rPr lang="en-US" sz="2200"/>
              <a:t>Every day we hit a win, feel a pain or learn a lesson that could change our lives. But because our brains are built to move on, these moments fade away within days. Without a way to look back at what we have been through, we lose the ability to see the patterns in our own lives, making it difficult to build on our experiences and move forward with clarity.</a:t>
            </a:r>
            <a:endParaRPr lang="en-US"/>
          </a:p>
          <a:p>
            <a:pPr>
              <a:lnSpc>
                <a:spcPct val="160000"/>
              </a:lnSpc>
              <a:buNone/>
            </a:pPr>
            <a:r>
              <a:rPr lang="en-US" sz="2200" b="1"/>
              <a:t>A Real World Example:</a:t>
            </a:r>
            <a:endParaRPr lang="en-US" sz="2200"/>
          </a:p>
          <a:p>
            <a:pPr>
              <a:lnSpc>
                <a:spcPct val="160000"/>
              </a:lnSpc>
            </a:pPr>
            <a:r>
              <a:rPr lang="en-US" sz="2200" b="1"/>
              <a:t>The Moment:</a:t>
            </a:r>
            <a:r>
              <a:rPr lang="en-US" sz="2200"/>
              <a:t> You have a massive "Aha!" moment at 2:00 AM about your career, a relationship or a bad habit. You feel 100% certain you will improve on it.</a:t>
            </a:r>
          </a:p>
          <a:p>
            <a:pPr>
              <a:lnSpc>
                <a:spcPct val="160000"/>
              </a:lnSpc>
            </a:pPr>
            <a:r>
              <a:rPr lang="en-US" sz="2200" b="1"/>
              <a:t>The Fade:</a:t>
            </a:r>
            <a:r>
              <a:rPr lang="en-US" sz="2200"/>
              <a:t> By next afternoon, the "feeling" of that insight is gone. You remember the idea, but you can no longer feel the </a:t>
            </a:r>
            <a:r>
              <a:rPr lang="en-US" sz="2200" i="1"/>
              <a:t>truth</a:t>
            </a:r>
            <a:r>
              <a:rPr lang="en-US" sz="2200"/>
              <a:t> or the urgency of it.</a:t>
            </a:r>
          </a:p>
          <a:p>
            <a:pPr>
              <a:lnSpc>
                <a:spcPct val="160000"/>
              </a:lnSpc>
            </a:pPr>
            <a:r>
              <a:rPr lang="en-US" sz="2200" b="1"/>
              <a:t>The Result:</a:t>
            </a:r>
            <a:r>
              <a:rPr lang="en-US" sz="2200"/>
              <a:t> Because there was no system for active reflection, the insight never gets reinforced. You naturally return to your old defaults, losing weeks or months of potential progress simply because the lesson wasn't integrated into your daily life.</a:t>
            </a:r>
          </a:p>
        </p:txBody>
      </p:sp>
      <p:pic>
        <p:nvPicPr>
          <p:cNvPr id="5" name="Picture 4" descr="A blue and white logo&#10;&#10;AI-generated content may be incorrect.">
            <a:extLst>
              <a:ext uri="{FF2B5EF4-FFF2-40B4-BE49-F238E27FC236}">
                <a16:creationId xmlns:a16="http://schemas.microsoft.com/office/drawing/2014/main" id="{6E6E5675-CB19-8B8D-3176-8CE7AA240554}"/>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626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208E9-D812-CBEE-8C85-694B0068A2DF}"/>
              </a:ext>
            </a:extLst>
          </p:cNvPr>
          <p:cNvSpPr>
            <a:spLocks noGrp="1"/>
          </p:cNvSpPr>
          <p:nvPr>
            <p:ph type="title"/>
          </p:nvPr>
        </p:nvSpPr>
        <p:spPr/>
        <p:txBody>
          <a:bodyPr/>
          <a:lstStyle/>
          <a:p>
            <a:pPr algn="ctr"/>
            <a:r>
              <a:rPr lang="en-US">
                <a:ea typeface="+mj-lt"/>
                <a:cs typeface="+mj-lt"/>
              </a:rPr>
              <a:t>Project Relevance</a:t>
            </a:r>
            <a:endParaRPr lang="en-US"/>
          </a:p>
        </p:txBody>
      </p:sp>
      <p:sp>
        <p:nvSpPr>
          <p:cNvPr id="3" name="Content Placeholder 2">
            <a:extLst>
              <a:ext uri="{FF2B5EF4-FFF2-40B4-BE49-F238E27FC236}">
                <a16:creationId xmlns:a16="http://schemas.microsoft.com/office/drawing/2014/main" id="{59E6EAC0-98F7-BF62-91E5-CBDBDDF0297A}"/>
              </a:ext>
            </a:extLst>
          </p:cNvPr>
          <p:cNvSpPr>
            <a:spLocks noGrp="1"/>
          </p:cNvSpPr>
          <p:nvPr>
            <p:ph idx="1"/>
          </p:nvPr>
        </p:nvSpPr>
        <p:spPr/>
        <p:txBody>
          <a:bodyPr vert="horz" lIns="91440" tIns="45720" rIns="91440" bIns="45720" rtlCol="0" anchor="t">
            <a:normAutofit/>
          </a:bodyPr>
          <a:lstStyle/>
          <a:p>
            <a:pPr marL="0" indent="0">
              <a:lnSpc>
                <a:spcPct val="170000"/>
              </a:lnSpc>
              <a:buNone/>
            </a:pPr>
            <a:r>
              <a:rPr lang="en-US" sz="1500" b="1"/>
              <a:t>The "Passive Silos" Problem:</a:t>
            </a:r>
            <a:r>
              <a:rPr lang="en-US" sz="1500"/>
              <a:t> Whether using physical journals, WhatsApp "Message Yourself" or notes apps (Notion/Keep), these are Static Systems. Information is recorded but stays isolated.</a:t>
            </a:r>
            <a:endParaRPr lang="en-US"/>
          </a:p>
          <a:p>
            <a:pPr marL="0" indent="0">
              <a:lnSpc>
                <a:spcPct val="170000"/>
              </a:lnSpc>
              <a:buNone/>
            </a:pPr>
            <a:r>
              <a:rPr lang="en-US" sz="1500" b="1"/>
              <a:t>The Contextual Gap in AI:</a:t>
            </a:r>
            <a:r>
              <a:rPr lang="en-US" sz="1500"/>
              <a:t> While tools like ChatGPT/Claude/Gemini have "Memory" for basic facts, they lack </a:t>
            </a:r>
            <a:r>
              <a:rPr lang="en-US" sz="1500">
                <a:ea typeface="+mn-lt"/>
                <a:cs typeface="+mn-lt"/>
              </a:rPr>
              <a:t>Long term Personal Context</a:t>
            </a:r>
            <a:r>
              <a:rPr lang="en-US" sz="1500"/>
              <a:t>. </a:t>
            </a:r>
            <a:r>
              <a:rPr lang="en-US" sz="1500">
                <a:ea typeface="+mn-lt"/>
                <a:cs typeface="+mn-lt"/>
              </a:rPr>
              <a:t>They don't track a user’s emotional journey or connect a lesson learned months ago to a struggle happening today.</a:t>
            </a:r>
          </a:p>
          <a:p>
            <a:pPr marL="0" indent="0">
              <a:lnSpc>
                <a:spcPct val="170000"/>
              </a:lnSpc>
              <a:buNone/>
            </a:pPr>
            <a:r>
              <a:rPr lang="en-US" sz="1500" b="1">
                <a:ea typeface="+mn-lt"/>
                <a:cs typeface="+mn-lt"/>
              </a:rPr>
              <a:t>The "Why" Gap:</a:t>
            </a:r>
            <a:r>
              <a:rPr lang="en-US" sz="1500">
                <a:ea typeface="+mn-lt"/>
                <a:cs typeface="+mn-lt"/>
              </a:rPr>
              <a:t> Existing tracking methods show what happened, but they fail to connect the dots. They can record a moment of frustration or a missed habit, but they cannot explain the underlying patterns or life cycles that lead to those moments.</a:t>
            </a:r>
          </a:p>
          <a:p>
            <a:pPr marL="0" indent="0">
              <a:lnSpc>
                <a:spcPct val="170000"/>
              </a:lnSpc>
              <a:buNone/>
            </a:pPr>
            <a:r>
              <a:rPr lang="en-US" sz="1500" b="1"/>
              <a:t>Lack</a:t>
            </a:r>
            <a:r>
              <a:rPr lang="en-US" sz="1500" b="1">
                <a:ea typeface="+mn-lt"/>
                <a:cs typeface="+mn-lt"/>
              </a:rPr>
              <a:t> of Active Reinforcement</a:t>
            </a:r>
            <a:r>
              <a:rPr lang="en-US" sz="1500" b="1"/>
              <a:t>:</a:t>
            </a:r>
            <a:r>
              <a:rPr lang="en-US" sz="1500"/>
              <a:t> </a:t>
            </a:r>
            <a:r>
              <a:rPr lang="en-US" sz="1500">
                <a:ea typeface="+mn-lt"/>
                <a:cs typeface="+mn-lt"/>
              </a:rPr>
              <a:t>There is no mainstream system designed to proactively mirror past breakthroughs back to the user. This makes it difficult to turn a temporary "Aha!" moment into a permanent habit.</a:t>
            </a:r>
            <a:endParaRPr lang="en-US">
              <a:ea typeface="+mn-lt"/>
              <a:cs typeface="+mn-lt"/>
            </a:endParaRPr>
          </a:p>
        </p:txBody>
      </p:sp>
      <p:pic>
        <p:nvPicPr>
          <p:cNvPr id="5" name="Picture 4" descr="A blue and white logo&#10;&#10;AI-generated content may be incorrect.">
            <a:extLst>
              <a:ext uri="{FF2B5EF4-FFF2-40B4-BE49-F238E27FC236}">
                <a16:creationId xmlns:a16="http://schemas.microsoft.com/office/drawing/2014/main" id="{D3FFE436-32CE-1B0C-74BA-E669E05EFA58}"/>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547360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B3906-DA4B-8EB6-BA07-A4E355F630A6}"/>
              </a:ext>
            </a:extLst>
          </p:cNvPr>
          <p:cNvSpPr>
            <a:spLocks noGrp="1"/>
          </p:cNvSpPr>
          <p:nvPr>
            <p:ph type="title"/>
          </p:nvPr>
        </p:nvSpPr>
        <p:spPr/>
        <p:txBody>
          <a:bodyPr>
            <a:normAutofit/>
          </a:bodyPr>
          <a:lstStyle/>
          <a:p>
            <a:pPr algn="ctr"/>
            <a:r>
              <a:rPr lang="en-US">
                <a:latin typeface="Aptos Display"/>
                <a:ea typeface="+mj-lt"/>
                <a:cs typeface="+mj-lt"/>
              </a:rPr>
              <a:t>Project Objectives</a:t>
            </a:r>
            <a:endParaRPr lang="en-US">
              <a:latin typeface="Aptos Display"/>
            </a:endParaRPr>
          </a:p>
        </p:txBody>
      </p:sp>
      <p:sp>
        <p:nvSpPr>
          <p:cNvPr id="3" name="Content Placeholder 2">
            <a:extLst>
              <a:ext uri="{FF2B5EF4-FFF2-40B4-BE49-F238E27FC236}">
                <a16:creationId xmlns:a16="http://schemas.microsoft.com/office/drawing/2014/main" id="{2D9A4E6F-B5E8-A748-2AF1-094CCC150574}"/>
              </a:ext>
            </a:extLst>
          </p:cNvPr>
          <p:cNvSpPr>
            <a:spLocks noGrp="1"/>
          </p:cNvSpPr>
          <p:nvPr>
            <p:ph idx="1"/>
          </p:nvPr>
        </p:nvSpPr>
        <p:spPr/>
        <p:txBody>
          <a:bodyPr vert="horz" lIns="91440" tIns="45720" rIns="91440" bIns="45720" rtlCol="0" anchor="t">
            <a:normAutofit fontScale="55000" lnSpcReduction="20000"/>
          </a:bodyPr>
          <a:lstStyle/>
          <a:p>
            <a:pPr marL="0" indent="0">
              <a:lnSpc>
                <a:spcPct val="170000"/>
              </a:lnSpc>
              <a:buNone/>
            </a:pPr>
            <a:r>
              <a:rPr lang="en-US" sz="2400" b="1"/>
              <a:t>Cross Platform Interface: </a:t>
            </a:r>
            <a:r>
              <a:rPr lang="en-US" sz="2400"/>
              <a:t>Develop a unified application architecture to provide a consistent, mobile first experience across both Web and Android platforms, ensuring the tool is accessible regardless of the user's device.</a:t>
            </a:r>
            <a:endParaRPr lang="en-US"/>
          </a:p>
          <a:p>
            <a:pPr marL="0" indent="0">
              <a:lnSpc>
                <a:spcPct val="170000"/>
              </a:lnSpc>
              <a:buNone/>
            </a:pPr>
            <a:r>
              <a:rPr lang="en-US" sz="2400" b="1" dirty="0"/>
              <a:t>Secure Authentication System: </a:t>
            </a:r>
            <a:r>
              <a:rPr lang="en-US" sz="2400" dirty="0"/>
              <a:t>Implement a robust JWT based authentication system to ensure strict privacy for all personal data. By utilizing </a:t>
            </a:r>
            <a:r>
              <a:rPr lang="en-US" sz="2400"/>
              <a:t>persistent sessions, the system balances high level security with instant access, removing the need for repeated login prompts.</a:t>
            </a:r>
            <a:endParaRPr lang="en-US"/>
          </a:p>
          <a:p>
            <a:pPr marL="0" indent="0">
              <a:lnSpc>
                <a:spcPct val="170000"/>
              </a:lnSpc>
              <a:buNone/>
            </a:pPr>
            <a:r>
              <a:rPr lang="en-US" sz="2400" b="1" dirty="0"/>
              <a:t>Multimodal Data Capture:</a:t>
            </a:r>
            <a:r>
              <a:rPr lang="en-US" sz="2400" dirty="0"/>
              <a:t> Develop a low friction interface that supports both voice to text and direct text input</a:t>
            </a:r>
            <a:r>
              <a:rPr lang="en-US" sz="2400" b="1" dirty="0"/>
              <a:t>.</a:t>
            </a:r>
            <a:r>
              <a:rPr lang="en-US" sz="2400" dirty="0"/>
              <a:t> This ensures users can input their </a:t>
            </a:r>
            <a:r>
              <a:rPr lang="en-US" sz="2400"/>
              <a:t>thoughts, reflections or general chat whenever they want, in their preferred format.</a:t>
            </a:r>
            <a:endParaRPr lang="en-US"/>
          </a:p>
          <a:p>
            <a:pPr marL="0" indent="0">
              <a:lnSpc>
                <a:spcPct val="170000"/>
              </a:lnSpc>
              <a:buNone/>
            </a:pPr>
            <a:r>
              <a:rPr lang="en-US" sz="2400" b="1"/>
              <a:t>Context Memory Storage:</a:t>
            </a:r>
            <a:r>
              <a:rPr lang="en-US" sz="2400"/>
              <a:t> Develop a backend architecture that integrates emotional metadata and chronological context into every entry. This creates a continuous thread of the user’s journey, allowing the system to reference past reflections as a connected narrative instead of isolated notes.</a:t>
            </a:r>
            <a:endParaRPr lang="en-US"/>
          </a:p>
          <a:p>
            <a:pPr marL="0" indent="0">
              <a:lnSpc>
                <a:spcPct val="170000"/>
              </a:lnSpc>
              <a:buNone/>
            </a:pPr>
            <a:r>
              <a:rPr lang="en-US" sz="2400" b="1"/>
              <a:t>Automated Insight Synthesis: </a:t>
            </a:r>
            <a:r>
              <a:rPr lang="en-US" sz="2400"/>
              <a:t>Integrate a Large Language Model (LLM) to correlate current inputs with historical data. This system identifies recurring behavioral patterns and surfaces relevant past breakthroughs to the user, reinforcing growth through proactive mirroring of the user's own history.</a:t>
            </a:r>
            <a:endParaRPr lang="en-US"/>
          </a:p>
          <a:p>
            <a:pPr>
              <a:lnSpc>
                <a:spcPct val="170000"/>
              </a:lnSpc>
              <a:buNone/>
            </a:pPr>
            <a:endParaRPr lang="en-US" sz="2400"/>
          </a:p>
        </p:txBody>
      </p:sp>
      <p:pic>
        <p:nvPicPr>
          <p:cNvPr id="5" name="Picture 4" descr="A blue and white logo&#10;&#10;AI-generated content may be incorrect.">
            <a:extLst>
              <a:ext uri="{FF2B5EF4-FFF2-40B4-BE49-F238E27FC236}">
                <a16:creationId xmlns:a16="http://schemas.microsoft.com/office/drawing/2014/main" id="{E92BD8A6-9895-4618-98CC-84E146108633}"/>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562719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5060-9B7C-6156-2C19-CC2636BABEC7}"/>
              </a:ext>
            </a:extLst>
          </p:cNvPr>
          <p:cNvSpPr>
            <a:spLocks noGrp="1"/>
          </p:cNvSpPr>
          <p:nvPr>
            <p:ph type="title"/>
          </p:nvPr>
        </p:nvSpPr>
        <p:spPr/>
        <p:txBody>
          <a:bodyPr/>
          <a:lstStyle/>
          <a:p>
            <a:pPr algn="ctr"/>
            <a:r>
              <a:rPr lang="en-US"/>
              <a:t>Project Scope</a:t>
            </a:r>
          </a:p>
        </p:txBody>
      </p:sp>
      <p:sp>
        <p:nvSpPr>
          <p:cNvPr id="3" name="Content Placeholder 2">
            <a:extLst>
              <a:ext uri="{FF2B5EF4-FFF2-40B4-BE49-F238E27FC236}">
                <a16:creationId xmlns:a16="http://schemas.microsoft.com/office/drawing/2014/main" id="{491358A9-484A-BF92-4DC0-FEF2873FCB71}"/>
              </a:ext>
            </a:extLst>
          </p:cNvPr>
          <p:cNvSpPr>
            <a:spLocks noGrp="1"/>
          </p:cNvSpPr>
          <p:nvPr>
            <p:ph idx="1"/>
          </p:nvPr>
        </p:nvSpPr>
        <p:spPr/>
        <p:txBody>
          <a:bodyPr vert="horz" lIns="91440" tIns="45720" rIns="91440" bIns="45720" rtlCol="0" anchor="t">
            <a:normAutofit/>
          </a:bodyPr>
          <a:lstStyle/>
          <a:p>
            <a:pPr marL="0" indent="0">
              <a:lnSpc>
                <a:spcPct val="150000"/>
              </a:lnSpc>
              <a:buNone/>
            </a:pPr>
            <a:r>
              <a:rPr lang="en-US" sz="1400">
                <a:ea typeface="+mn-lt"/>
                <a:cs typeface="+mn-lt"/>
              </a:rPr>
              <a:t>MIRROR is strictly scoped as a single user personal reflection tool. It does not support multi user collaboration, real time professional consultation or external data sources. Within these boundaries, the system covers:</a:t>
            </a:r>
            <a:endParaRPr lang="en-US">
              <a:ea typeface="+mn-lt"/>
              <a:cs typeface="+mn-lt"/>
            </a:endParaRPr>
          </a:p>
          <a:p>
            <a:pPr lvl="1">
              <a:lnSpc>
                <a:spcPct val="150000"/>
              </a:lnSpc>
            </a:pPr>
            <a:r>
              <a:rPr lang="en-US" sz="1400">
                <a:ea typeface="+mn-lt"/>
                <a:cs typeface="+mn-lt"/>
              </a:rPr>
              <a:t>Cross platform application (Web + Android)</a:t>
            </a:r>
            <a:endParaRPr lang="en-US" sz="1400"/>
          </a:p>
          <a:p>
            <a:pPr lvl="1">
              <a:lnSpc>
                <a:spcPct val="150000"/>
              </a:lnSpc>
            </a:pPr>
            <a:r>
              <a:rPr lang="en-US" sz="1400">
                <a:ea typeface="+mn-lt"/>
                <a:cs typeface="+mn-lt"/>
              </a:rPr>
              <a:t>Microservices backend (Auth, Speech, Data, AI)</a:t>
            </a:r>
          </a:p>
          <a:p>
            <a:pPr lvl="1">
              <a:lnSpc>
                <a:spcPct val="150000"/>
              </a:lnSpc>
            </a:pPr>
            <a:r>
              <a:rPr lang="en-US" sz="1400">
                <a:ea typeface="+mn-lt"/>
                <a:cs typeface="+mn-lt"/>
              </a:rPr>
              <a:t>Automated emotional metadata tagging</a:t>
            </a:r>
            <a:endParaRPr lang="en-US" sz="1400"/>
          </a:p>
          <a:p>
            <a:pPr lvl="1">
              <a:lnSpc>
                <a:spcPct val="150000"/>
              </a:lnSpc>
            </a:pPr>
            <a:r>
              <a:rPr lang="en-US" sz="1400">
                <a:ea typeface="+mn-lt"/>
                <a:cs typeface="+mn-lt"/>
              </a:rPr>
              <a:t>AI driven pattern synthesis from personal history only</a:t>
            </a:r>
            <a:endParaRPr lang="en-US" sz="1400"/>
          </a:p>
          <a:p>
            <a:pPr lvl="1">
              <a:lnSpc>
                <a:spcPct val="150000"/>
              </a:lnSpc>
            </a:pPr>
            <a:r>
              <a:rPr lang="en-US" sz="1400">
                <a:ea typeface="+mn-lt"/>
                <a:cs typeface="+mn-lt"/>
              </a:rPr>
              <a:t>Interactive Growth Dashboard</a:t>
            </a:r>
          </a:p>
          <a:p>
            <a:pPr lvl="1">
              <a:lnSpc>
                <a:spcPct val="150000"/>
              </a:lnSpc>
            </a:pPr>
            <a:r>
              <a:rPr lang="en-US" sz="1400">
                <a:ea typeface="+mn-lt"/>
                <a:cs typeface="+mn-lt"/>
              </a:rPr>
              <a:t>Admin panel for system level oversight and user management</a:t>
            </a:r>
          </a:p>
          <a:p>
            <a:pPr marL="0" indent="0">
              <a:lnSpc>
                <a:spcPct val="150000"/>
              </a:lnSpc>
              <a:buNone/>
            </a:pPr>
            <a:endParaRPr lang="en-US" sz="1400"/>
          </a:p>
        </p:txBody>
      </p:sp>
      <p:pic>
        <p:nvPicPr>
          <p:cNvPr id="5" name="Picture 4" descr="A blue and white logo&#10;&#10;AI-generated content may be incorrect.">
            <a:extLst>
              <a:ext uri="{FF2B5EF4-FFF2-40B4-BE49-F238E27FC236}">
                <a16:creationId xmlns:a16="http://schemas.microsoft.com/office/drawing/2014/main" id="{172CDEEB-4C14-BC76-3800-FBA985F3AB90}"/>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3083432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69A2-B029-BA9B-05CF-DCA595AE3993}"/>
              </a:ext>
            </a:extLst>
          </p:cNvPr>
          <p:cNvSpPr>
            <a:spLocks noGrp="1"/>
          </p:cNvSpPr>
          <p:nvPr>
            <p:ph type="title"/>
          </p:nvPr>
        </p:nvSpPr>
        <p:spPr/>
        <p:txBody>
          <a:bodyPr/>
          <a:lstStyle/>
          <a:p>
            <a:pPr algn="ctr"/>
            <a:r>
              <a:rPr lang="en-US">
                <a:ea typeface="+mj-lt"/>
                <a:cs typeface="+mj-lt"/>
              </a:rPr>
              <a:t>Methodology/Approach</a:t>
            </a:r>
            <a:endParaRPr lang="en-US"/>
          </a:p>
        </p:txBody>
      </p:sp>
      <p:sp>
        <p:nvSpPr>
          <p:cNvPr id="3" name="Content Placeholder 2">
            <a:extLst>
              <a:ext uri="{FF2B5EF4-FFF2-40B4-BE49-F238E27FC236}">
                <a16:creationId xmlns:a16="http://schemas.microsoft.com/office/drawing/2014/main" id="{86F28C50-8AD8-8637-9010-D67E67E661CD}"/>
              </a:ext>
            </a:extLst>
          </p:cNvPr>
          <p:cNvSpPr>
            <a:spLocks noGrp="1"/>
          </p:cNvSpPr>
          <p:nvPr>
            <p:ph idx="1"/>
          </p:nvPr>
        </p:nvSpPr>
        <p:spPr/>
        <p:txBody>
          <a:bodyPr vert="horz" lIns="91440" tIns="45720" rIns="91440" bIns="45720" rtlCol="0" anchor="t">
            <a:normAutofit fontScale="47500" lnSpcReduction="20000"/>
          </a:bodyPr>
          <a:lstStyle/>
          <a:p>
            <a:pPr marL="0" indent="0">
              <a:lnSpc>
                <a:spcPct val="170000"/>
              </a:lnSpc>
              <a:buNone/>
            </a:pPr>
            <a:r>
              <a:rPr lang="en-US" b="1">
                <a:ea typeface="+mn-lt"/>
                <a:cs typeface="+mn-lt"/>
              </a:rPr>
              <a:t>Frontend Framework:</a:t>
            </a:r>
            <a:r>
              <a:rPr lang="en-US">
                <a:ea typeface="+mn-lt"/>
                <a:cs typeface="+mn-lt"/>
              </a:rPr>
              <a:t> Ionic with Angular for a unified, reactive UI across Web and Android platforms.</a:t>
            </a:r>
            <a:endParaRPr lang="en-US"/>
          </a:p>
          <a:p>
            <a:pPr marL="0" indent="0">
              <a:lnSpc>
                <a:spcPct val="170000"/>
              </a:lnSpc>
              <a:buNone/>
            </a:pPr>
            <a:r>
              <a:rPr lang="en-US" b="1">
                <a:ea typeface="+mn-lt"/>
                <a:cs typeface="+mn-lt"/>
              </a:rPr>
              <a:t>Backend Architecture:</a:t>
            </a:r>
            <a:r>
              <a:rPr lang="en-US">
                <a:ea typeface="+mn-lt"/>
                <a:cs typeface="+mn-lt"/>
              </a:rPr>
              <a:t> Java with Spring Boot, utilizing a Microservices pattern for modularity and scalability.</a:t>
            </a:r>
          </a:p>
          <a:p>
            <a:pPr marL="0" indent="0">
              <a:lnSpc>
                <a:spcPct val="170000"/>
              </a:lnSpc>
              <a:buNone/>
            </a:pPr>
            <a:r>
              <a:rPr lang="en-US" b="1">
                <a:ea typeface="+mn-lt"/>
                <a:cs typeface="+mn-lt"/>
              </a:rPr>
              <a:t>Security Layer:</a:t>
            </a:r>
            <a:r>
              <a:rPr lang="en-US">
                <a:ea typeface="+mn-lt"/>
                <a:cs typeface="+mn-lt"/>
              </a:rPr>
              <a:t> Spring Security + JWT for robust, stateless user authentication and data privacy.</a:t>
            </a:r>
          </a:p>
          <a:p>
            <a:pPr marL="0" indent="0">
              <a:lnSpc>
                <a:spcPct val="170000"/>
              </a:lnSpc>
              <a:buNone/>
            </a:pPr>
            <a:r>
              <a:rPr lang="en-US" b="1">
                <a:ea typeface="+mn-lt"/>
                <a:cs typeface="+mn-lt"/>
              </a:rPr>
              <a:t>Data Persistence:</a:t>
            </a:r>
            <a:r>
              <a:rPr lang="en-US">
                <a:ea typeface="+mn-lt"/>
                <a:cs typeface="+mn-lt"/>
              </a:rPr>
              <a:t> PostgreSQL for centralized storage of user credentials, emotional metadata and historical reflections.</a:t>
            </a:r>
            <a:endParaRPr lang="en-US"/>
          </a:p>
          <a:p>
            <a:pPr marL="0" indent="0">
              <a:lnSpc>
                <a:spcPct val="170000"/>
              </a:lnSpc>
              <a:buNone/>
            </a:pPr>
            <a:r>
              <a:rPr lang="en-US" b="1">
                <a:ea typeface="+mn-lt"/>
                <a:cs typeface="+mn-lt"/>
              </a:rPr>
              <a:t>Vector Search:</a:t>
            </a:r>
            <a:r>
              <a:rPr lang="en-US">
                <a:ea typeface="+mn-lt"/>
                <a:cs typeface="+mn-lt"/>
              </a:rPr>
              <a:t> Utilizing the </a:t>
            </a:r>
            <a:r>
              <a:rPr lang="en-US" err="1">
                <a:ea typeface="+mn-lt"/>
                <a:cs typeface="+mn-lt"/>
              </a:rPr>
              <a:t>pgvector</a:t>
            </a:r>
            <a:r>
              <a:rPr lang="en-US">
                <a:ea typeface="+mn-lt"/>
                <a:cs typeface="+mn-lt"/>
              </a:rPr>
              <a:t> extension within PostgreSQL to store and query AI generated embeddings for pattern recognition</a:t>
            </a:r>
            <a:endParaRPr lang="en-US"/>
          </a:p>
          <a:p>
            <a:pPr marL="0" indent="0">
              <a:lnSpc>
                <a:spcPct val="170000"/>
              </a:lnSpc>
              <a:buNone/>
            </a:pPr>
            <a:r>
              <a:rPr lang="en-US" b="1">
                <a:ea typeface="+mn-lt"/>
                <a:cs typeface="+mn-lt"/>
              </a:rPr>
              <a:t>Speech Processing:</a:t>
            </a:r>
            <a:r>
              <a:rPr lang="en-US">
                <a:ea typeface="+mn-lt"/>
                <a:cs typeface="+mn-lt"/>
              </a:rPr>
              <a:t> Faster Whisper / VOSK for local, low latency voice to text conversion.</a:t>
            </a:r>
          </a:p>
          <a:p>
            <a:pPr marL="0" indent="0">
              <a:lnSpc>
                <a:spcPct val="170000"/>
              </a:lnSpc>
              <a:buNone/>
            </a:pPr>
            <a:r>
              <a:rPr lang="en-US" b="1">
                <a:ea typeface="+mn-lt"/>
                <a:cs typeface="+mn-lt"/>
              </a:rPr>
              <a:t>AI Logic Engine:</a:t>
            </a:r>
            <a:r>
              <a:rPr lang="en-US">
                <a:ea typeface="+mn-lt"/>
                <a:cs typeface="+mn-lt"/>
              </a:rPr>
              <a:t> Integration with Large Language Models (LLM) via OpenAI, Google Gemini or Anthropic Claude APIs to perform proactive behavioral synthesis and historical pattern recognition.</a:t>
            </a:r>
          </a:p>
          <a:p>
            <a:pPr marL="0" indent="0">
              <a:lnSpc>
                <a:spcPct val="170000"/>
              </a:lnSpc>
              <a:buNone/>
            </a:pPr>
            <a:r>
              <a:rPr lang="en-US" b="1">
                <a:ea typeface="+mn-lt"/>
                <a:cs typeface="+mn-lt"/>
              </a:rPr>
              <a:t>Proposed Methodology:</a:t>
            </a:r>
            <a:r>
              <a:rPr lang="en-US">
                <a:ea typeface="+mn-lt"/>
                <a:cs typeface="+mn-lt"/>
              </a:rPr>
              <a:t> Agile (Scrum) framework, iterative sprints from April to June, covering System Design → Development → Testing → Deployment, with milestone reviews aligned to each evaluation cycle.</a:t>
            </a:r>
            <a:endParaRPr lang="en-US"/>
          </a:p>
          <a:p>
            <a:pPr marL="0" indent="0">
              <a:lnSpc>
                <a:spcPct val="170000"/>
              </a:lnSpc>
              <a:buNone/>
            </a:pPr>
            <a:endParaRPr lang="en-US"/>
          </a:p>
          <a:p>
            <a:pPr>
              <a:lnSpc>
                <a:spcPct val="170000"/>
              </a:lnSpc>
              <a:buNone/>
            </a:pPr>
            <a:endParaRPr lang="en-US"/>
          </a:p>
        </p:txBody>
      </p:sp>
      <p:pic>
        <p:nvPicPr>
          <p:cNvPr id="5" name="Picture 4" descr="A blue and white logo&#10;&#10;AI-generated content may be incorrect.">
            <a:extLst>
              <a:ext uri="{FF2B5EF4-FFF2-40B4-BE49-F238E27FC236}">
                <a16:creationId xmlns:a16="http://schemas.microsoft.com/office/drawing/2014/main" id="{ADA46358-549D-068C-0F98-9A8DFE2D3A7C}"/>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2978654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ompany&#10;&#10;AI-generated content may be incorrect.">
            <a:extLst>
              <a:ext uri="{FF2B5EF4-FFF2-40B4-BE49-F238E27FC236}">
                <a16:creationId xmlns:a16="http://schemas.microsoft.com/office/drawing/2014/main" id="{C002CA43-0E15-0331-B5FC-ECEB2306992F}"/>
              </a:ext>
            </a:extLst>
          </p:cNvPr>
          <p:cNvPicPr>
            <a:picLocks noChangeAspect="1"/>
          </p:cNvPicPr>
          <p:nvPr/>
        </p:nvPicPr>
        <p:blipFill>
          <a:blip r:embed="rId2"/>
          <a:stretch>
            <a:fillRect/>
          </a:stretch>
        </p:blipFill>
        <p:spPr>
          <a:xfrm>
            <a:off x="-11308" y="0"/>
            <a:ext cx="12206996" cy="6858000"/>
          </a:xfrm>
          <a:prstGeom prst="rect">
            <a:avLst/>
          </a:prstGeom>
        </p:spPr>
      </p:pic>
      <p:pic>
        <p:nvPicPr>
          <p:cNvPr id="6" name="Picture 5" descr="A blue and white logo&#10;&#10;AI-generated content may be incorrect.">
            <a:extLst>
              <a:ext uri="{FF2B5EF4-FFF2-40B4-BE49-F238E27FC236}">
                <a16:creationId xmlns:a16="http://schemas.microsoft.com/office/drawing/2014/main" id="{1CA073F9-C53D-4CA9-8A82-508A867A1824}"/>
              </a:ext>
            </a:extLst>
          </p:cNvPr>
          <p:cNvPicPr>
            <a:picLocks noChangeAspect="1"/>
          </p:cNvPicPr>
          <p:nvPr/>
        </p:nvPicPr>
        <p:blipFill>
          <a:blip r:embed="rId3"/>
          <a:stretch>
            <a:fillRect/>
          </a:stretch>
        </p:blipFill>
        <p:spPr>
          <a:xfrm>
            <a:off x="204305" y="168413"/>
            <a:ext cx="861392" cy="861392"/>
          </a:xfrm>
          <a:prstGeom prst="rect">
            <a:avLst/>
          </a:prstGeom>
        </p:spPr>
      </p:pic>
      <p:sp>
        <p:nvSpPr>
          <p:cNvPr id="7" name="TextBox 6">
            <a:extLst>
              <a:ext uri="{FF2B5EF4-FFF2-40B4-BE49-F238E27FC236}">
                <a16:creationId xmlns:a16="http://schemas.microsoft.com/office/drawing/2014/main" id="{3E2E7664-E6F7-2142-0B43-00CA1A02F279}"/>
              </a:ext>
            </a:extLst>
          </p:cNvPr>
          <p:cNvSpPr txBox="1"/>
          <p:nvPr/>
        </p:nvSpPr>
        <p:spPr>
          <a:xfrm rot="16200000">
            <a:off x="-900210" y="4542537"/>
            <a:ext cx="3927341"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ea typeface="+mn-lt"/>
                <a:cs typeface="+mn-lt"/>
              </a:rPr>
              <a:t>Proposed System Architecture</a:t>
            </a:r>
            <a:endParaRPr lang="en-US" b="1"/>
          </a:p>
        </p:txBody>
      </p:sp>
    </p:spTree>
    <p:extLst>
      <p:ext uri="{BB962C8B-B14F-4D97-AF65-F5344CB8AC3E}">
        <p14:creationId xmlns:p14="http://schemas.microsoft.com/office/powerpoint/2010/main" val="3935575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EF3B1-DFD2-C2C9-DFA9-B99FF9F8BE2B}"/>
              </a:ext>
            </a:extLst>
          </p:cNvPr>
          <p:cNvSpPr>
            <a:spLocks noGrp="1"/>
          </p:cNvSpPr>
          <p:nvPr>
            <p:ph type="title"/>
          </p:nvPr>
        </p:nvSpPr>
        <p:spPr>
          <a:xfrm>
            <a:off x="838200" y="1915102"/>
            <a:ext cx="10515600" cy="1325563"/>
          </a:xfrm>
        </p:spPr>
        <p:txBody>
          <a:bodyPr/>
          <a:lstStyle/>
          <a:p>
            <a:pPr algn="ctr"/>
            <a:r>
              <a:rPr lang="en-US"/>
              <a:t>Thank You</a:t>
            </a:r>
          </a:p>
        </p:txBody>
      </p:sp>
      <p:pic>
        <p:nvPicPr>
          <p:cNvPr id="4" name="Picture 3" descr="A blue and white logo&#10;&#10;AI-generated content may be incorrect.">
            <a:extLst>
              <a:ext uri="{FF2B5EF4-FFF2-40B4-BE49-F238E27FC236}">
                <a16:creationId xmlns:a16="http://schemas.microsoft.com/office/drawing/2014/main" id="{3AB45649-46DB-63EE-0C5A-735D6229B433}"/>
              </a:ext>
            </a:extLst>
          </p:cNvPr>
          <p:cNvPicPr>
            <a:picLocks noChangeAspect="1"/>
          </p:cNvPicPr>
          <p:nvPr/>
        </p:nvPicPr>
        <p:blipFill>
          <a:blip r:embed="rId2"/>
          <a:stretch>
            <a:fillRect/>
          </a:stretch>
        </p:blipFill>
        <p:spPr>
          <a:xfrm>
            <a:off x="204305" y="168413"/>
            <a:ext cx="861392" cy="861392"/>
          </a:xfrm>
          <a:prstGeom prst="rect">
            <a:avLst/>
          </a:prstGeom>
        </p:spPr>
      </p:pic>
      <p:sp>
        <p:nvSpPr>
          <p:cNvPr id="5" name="TextBox 4">
            <a:extLst>
              <a:ext uri="{FF2B5EF4-FFF2-40B4-BE49-F238E27FC236}">
                <a16:creationId xmlns:a16="http://schemas.microsoft.com/office/drawing/2014/main" id="{FBEC4A68-BB44-5269-E7B8-9892C66A1B6A}"/>
              </a:ext>
            </a:extLst>
          </p:cNvPr>
          <p:cNvSpPr txBox="1"/>
          <p:nvPr/>
        </p:nvSpPr>
        <p:spPr>
          <a:xfrm>
            <a:off x="855401" y="3238986"/>
            <a:ext cx="104967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Questions and Feedback</a:t>
            </a:r>
          </a:p>
        </p:txBody>
      </p:sp>
      <p:sp>
        <p:nvSpPr>
          <p:cNvPr id="6" name="TextBox 5">
            <a:extLst>
              <a:ext uri="{FF2B5EF4-FFF2-40B4-BE49-F238E27FC236}">
                <a16:creationId xmlns:a16="http://schemas.microsoft.com/office/drawing/2014/main" id="{FFFF6B90-425E-620C-35C1-D917801918D8}"/>
              </a:ext>
            </a:extLst>
          </p:cNvPr>
          <p:cNvSpPr txBox="1"/>
          <p:nvPr/>
        </p:nvSpPr>
        <p:spPr>
          <a:xfrm>
            <a:off x="1059230" y="6165953"/>
            <a:ext cx="11270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mn-lt"/>
                <a:cs typeface="+mn-lt"/>
              </a:rPr>
              <a:t>MIRЯOЯ</a:t>
            </a:r>
            <a:endParaRPr lang="en-US"/>
          </a:p>
        </p:txBody>
      </p:sp>
      <p:sp>
        <p:nvSpPr>
          <p:cNvPr id="7" name="TextBox 6">
            <a:extLst>
              <a:ext uri="{FF2B5EF4-FFF2-40B4-BE49-F238E27FC236}">
                <a16:creationId xmlns:a16="http://schemas.microsoft.com/office/drawing/2014/main" id="{3EA1CE2E-1203-9DE5-A7BC-89CF2B772871}"/>
              </a:ext>
            </a:extLst>
          </p:cNvPr>
          <p:cNvSpPr txBox="1"/>
          <p:nvPr/>
        </p:nvSpPr>
        <p:spPr>
          <a:xfrm>
            <a:off x="7723227" y="6167801"/>
            <a:ext cx="36265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Prabhu Teja Pamula | 24EMCA1237</a:t>
            </a:r>
          </a:p>
        </p:txBody>
      </p:sp>
    </p:spTree>
    <p:extLst>
      <p:ext uri="{BB962C8B-B14F-4D97-AF65-F5344CB8AC3E}">
        <p14:creationId xmlns:p14="http://schemas.microsoft.com/office/powerpoint/2010/main" val="312017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MIRЯOЯ An AI Powered Memory and Emotional Analytics System</vt:lpstr>
      <vt:lpstr>Outline</vt:lpstr>
      <vt:lpstr>Problem Identification</vt:lpstr>
      <vt:lpstr>Project Relevance</vt:lpstr>
      <vt:lpstr>Project Objectives</vt:lpstr>
      <vt:lpstr>Project Scope</vt:lpstr>
      <vt:lpstr>Methodology/Approach</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6</cp:revision>
  <dcterms:created xsi:type="dcterms:W3CDTF">2013-07-15T20:26:40Z</dcterms:created>
  <dcterms:modified xsi:type="dcterms:W3CDTF">2026-05-10T08:03:44Z</dcterms:modified>
</cp:coreProperties>
</file>