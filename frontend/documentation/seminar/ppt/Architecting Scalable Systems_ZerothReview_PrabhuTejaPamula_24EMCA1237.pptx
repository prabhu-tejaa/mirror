
<file path=[Content_Types].xml><?xml version="1.0" encoding="utf-8"?>
<Types xmlns="http://schemas.openxmlformats.org/package/2006/content-types">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revisionInfo.xml" ContentType="application/vnd.ms-powerpoint.revisioninfo+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0" r:id="rId2"/>
    <p:sldId id="264" r:id="rId3"/>
    <p:sldId id="265" r:id="rId4"/>
    <p:sldId id="266" r:id="rId5"/>
    <p:sldId id="271"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CEB7E7-200A-7DC8-9619-DD0FCB655AD3}" v="79" dt="2026-03-26T21:08:24.728"/>
    <p1510:client id="{A7B2947C-3F0A-CE7D-DFD1-3663C47A72E7}" v="173" dt="2026-03-27T07:53:50.9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9972" autoAdjust="0"/>
    <p:restoredTop sz="94660"/>
  </p:normalViewPr>
  <p:slideViewPr>
    <p:cSldViewPr snapToGrid="0">
      <p:cViewPr varScale="1">
        <p:scale>
          <a:sx n="74" d="100"/>
          <a:sy n="74" d="100"/>
        </p:scale>
        <p:origin x="-160" y="-68"/>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pPr/>
              <a:t>3/28/2026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xmlns=""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pPr/>
              <a:t>3/28/2026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xmlns=""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pPr/>
              <a:t>3/28/2026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xmlns=""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pPr/>
              <a:t>3/28/2026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xmlns=""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pPr/>
              <a:t>3/28/2026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xmlns=""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pPr/>
              <a:t>3/28/2026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xmlns=""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pPr/>
              <a:t>3/28/2026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xmlns=""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pPr/>
              <a:t>3/28/2026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xmlns=""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pPr/>
              <a:t>3/28/2026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xmlns=""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pPr/>
              <a:t>3/28/2026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xmlns=""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pPr/>
              <a:t>3/28/2026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xmlns=""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pPr/>
              <a:t>3/28/2026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pPr/>
              <a:t>‹#›</a:t>
            </a:fld>
            <a:endParaRPr lang="en-US"/>
          </a:p>
        </p:txBody>
      </p:sp>
    </p:spTree>
    <p:extLst>
      <p:ext uri="{BB962C8B-B14F-4D97-AF65-F5344CB8AC3E}">
        <p14:creationId xmlns:p14="http://schemas.microsoft.com/office/powerpoint/2010/main" xmlns=""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20B1E15-52DC-FA93-5EDC-0DD2D03CD769}"/>
              </a:ext>
            </a:extLst>
          </p:cNvPr>
          <p:cNvSpPr>
            <a:spLocks noGrp="1"/>
          </p:cNvSpPr>
          <p:nvPr>
            <p:ph type="title"/>
          </p:nvPr>
        </p:nvSpPr>
        <p:spPr>
          <a:xfrm>
            <a:off x="838200" y="2279161"/>
            <a:ext cx="10515600" cy="1325563"/>
          </a:xfrm>
        </p:spPr>
        <p:txBody>
          <a:bodyPr>
            <a:normAutofit/>
          </a:bodyPr>
          <a:lstStyle/>
          <a:p>
            <a:pPr algn="ctr">
              <a:lnSpc>
                <a:spcPct val="150000"/>
              </a:lnSpc>
              <a:spcBef>
                <a:spcPts val="1000"/>
              </a:spcBef>
            </a:pPr>
            <a:r>
              <a:rPr lang="en-US" sz="2400" b="1" dirty="0">
                <a:ea typeface="+mj-lt"/>
                <a:cs typeface="+mj-lt"/>
              </a:rPr>
              <a:t>Engineering Scalable Systems: The Core Principles of LLD and SOLID</a:t>
            </a:r>
          </a:p>
        </p:txBody>
      </p:sp>
      <p:sp>
        <p:nvSpPr>
          <p:cNvPr id="3" name="Content Placeholder 2">
            <a:extLst>
              <a:ext uri="{FF2B5EF4-FFF2-40B4-BE49-F238E27FC236}">
                <a16:creationId xmlns:a16="http://schemas.microsoft.com/office/drawing/2014/main" xmlns="" id="{6E27BA5A-FCDD-026C-4548-16053C39D2C5}"/>
              </a:ext>
            </a:extLst>
          </p:cNvPr>
          <p:cNvSpPr>
            <a:spLocks noGrp="1"/>
          </p:cNvSpPr>
          <p:nvPr>
            <p:ph sz="half" idx="1"/>
          </p:nvPr>
        </p:nvSpPr>
        <p:spPr>
          <a:xfrm>
            <a:off x="838200" y="4605192"/>
            <a:ext cx="3233305" cy="1970089"/>
          </a:xfrm>
        </p:spPr>
        <p:txBody>
          <a:bodyPr vert="horz" lIns="91440" tIns="45720" rIns="91440" bIns="45720" rtlCol="0" anchor="b">
            <a:normAutofit/>
          </a:bodyPr>
          <a:lstStyle/>
          <a:p>
            <a:pPr marL="0" indent="0">
              <a:buNone/>
            </a:pPr>
            <a:r>
              <a:rPr lang="en-US" sz="1800">
                <a:latin typeface="Calibri"/>
                <a:ea typeface="Calibri"/>
                <a:cs typeface="Calibri"/>
              </a:rPr>
              <a:t>Presented by: </a:t>
            </a:r>
          </a:p>
          <a:p>
            <a:pPr marL="0" indent="0">
              <a:buNone/>
            </a:pPr>
            <a:r>
              <a:rPr lang="en-US" b="1">
                <a:latin typeface="Calibri"/>
                <a:ea typeface="Calibri"/>
                <a:cs typeface="Calibri"/>
              </a:rPr>
              <a:t>Prabhu Teja Pamula </a:t>
            </a:r>
            <a:endParaRPr lang="en-US">
              <a:latin typeface="Calibri"/>
              <a:ea typeface="Calibri"/>
              <a:cs typeface="Calibri"/>
            </a:endParaRPr>
          </a:p>
          <a:p>
            <a:pPr marL="0" indent="0">
              <a:buNone/>
            </a:pPr>
            <a:r>
              <a:rPr lang="en-US" sz="1800">
                <a:latin typeface="Calibri"/>
                <a:ea typeface="Calibri"/>
                <a:cs typeface="Calibri"/>
              </a:rPr>
              <a:t>24EMCA1237</a:t>
            </a:r>
          </a:p>
          <a:p>
            <a:pPr marL="0" indent="0">
              <a:buNone/>
            </a:pPr>
            <a:endParaRPr lang="en-US" sz="1800" dirty="0">
              <a:latin typeface="Calibri"/>
              <a:ea typeface="Calibri"/>
              <a:cs typeface="Calibri"/>
            </a:endParaRPr>
          </a:p>
          <a:p>
            <a:pPr marL="0" indent="0">
              <a:buNone/>
            </a:pPr>
            <a:endParaRPr lang="en-US" sz="1800" dirty="0">
              <a:latin typeface="Calibri"/>
              <a:ea typeface="Calibri"/>
              <a:cs typeface="Calibri"/>
            </a:endParaRPr>
          </a:p>
        </p:txBody>
      </p:sp>
      <p:sp>
        <p:nvSpPr>
          <p:cNvPr id="4" name="Content Placeholder 3">
            <a:extLst>
              <a:ext uri="{FF2B5EF4-FFF2-40B4-BE49-F238E27FC236}">
                <a16:creationId xmlns:a16="http://schemas.microsoft.com/office/drawing/2014/main" xmlns="" id="{9B98D82D-B30C-3ABD-28CB-C464E815B492}"/>
              </a:ext>
            </a:extLst>
          </p:cNvPr>
          <p:cNvSpPr>
            <a:spLocks noGrp="1"/>
          </p:cNvSpPr>
          <p:nvPr>
            <p:ph sz="half" idx="2"/>
          </p:nvPr>
        </p:nvSpPr>
        <p:spPr>
          <a:xfrm>
            <a:off x="8267699" y="4432011"/>
            <a:ext cx="3086101" cy="2143270"/>
          </a:xfrm>
        </p:spPr>
        <p:txBody>
          <a:bodyPr vert="horz" lIns="91440" tIns="45720" rIns="91440" bIns="45720" rtlCol="0" anchor="b">
            <a:normAutofit/>
          </a:bodyPr>
          <a:lstStyle/>
          <a:p>
            <a:pPr marL="0" indent="0">
              <a:buNone/>
            </a:pPr>
            <a:r>
              <a:rPr lang="en-US" sz="1800">
                <a:latin typeface="Calibri"/>
                <a:ea typeface="Calibri"/>
                <a:cs typeface="Calibri"/>
              </a:rPr>
              <a:t>Seminar Guide: </a:t>
            </a:r>
            <a:endParaRPr lang="en-US"/>
          </a:p>
          <a:p>
            <a:pPr marL="0" indent="0">
              <a:buNone/>
            </a:pPr>
            <a:r>
              <a:rPr lang="en-US" b="1">
                <a:latin typeface="Calibri"/>
                <a:ea typeface="Calibri"/>
                <a:cs typeface="Calibri"/>
              </a:rPr>
              <a:t>Dr. Brijendra Singh</a:t>
            </a:r>
            <a:r>
              <a:rPr lang="en-US" dirty="0">
                <a:latin typeface="Calibri"/>
                <a:ea typeface="Calibri"/>
                <a:cs typeface="Calibri"/>
              </a:rPr>
              <a:t> </a:t>
            </a:r>
          </a:p>
          <a:p>
            <a:pPr marL="0" indent="0">
              <a:buNone/>
            </a:pPr>
            <a:r>
              <a:rPr lang="en-US" sz="1800">
                <a:latin typeface="Calibri"/>
                <a:ea typeface="Calibri"/>
                <a:cs typeface="Calibri"/>
              </a:rPr>
              <a:t>Associate Professor</a:t>
            </a:r>
          </a:p>
          <a:p>
            <a:pPr marL="0" indent="0" algn="r">
              <a:buNone/>
            </a:pPr>
            <a:endParaRPr lang="en-US"/>
          </a:p>
          <a:p>
            <a:pPr marL="0" indent="0" algn="r">
              <a:buNone/>
            </a:pPr>
            <a:endParaRPr lang="en-US" sz="1800">
              <a:latin typeface="Calibri"/>
              <a:ea typeface="Calibri"/>
              <a:cs typeface="Calibri"/>
            </a:endParaRPr>
          </a:p>
        </p:txBody>
      </p:sp>
      <p:sp>
        <p:nvSpPr>
          <p:cNvPr id="6" name="TextBox 5">
            <a:extLst>
              <a:ext uri="{FF2B5EF4-FFF2-40B4-BE49-F238E27FC236}">
                <a16:creationId xmlns:a16="http://schemas.microsoft.com/office/drawing/2014/main" xmlns="" id="{4AEE31ED-ED9B-5090-0324-D67B1B6FD984}"/>
              </a:ext>
            </a:extLst>
          </p:cNvPr>
          <p:cNvSpPr txBox="1"/>
          <p:nvPr/>
        </p:nvSpPr>
        <p:spPr>
          <a:xfrm>
            <a:off x="371211" y="6038774"/>
            <a:ext cx="175704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Zeroth Review </a:t>
            </a:r>
          </a:p>
          <a:p>
            <a:r>
              <a:rPr lang="en-US"/>
              <a:t>28 March 2026</a:t>
            </a:r>
          </a:p>
        </p:txBody>
      </p:sp>
      <p:pic>
        <p:nvPicPr>
          <p:cNvPr id="8" name="Picture 7" descr="A blue and white logo&#10;&#10;AI-generated content may be incorrect.">
            <a:extLst>
              <a:ext uri="{FF2B5EF4-FFF2-40B4-BE49-F238E27FC236}">
                <a16:creationId xmlns:a16="http://schemas.microsoft.com/office/drawing/2014/main" xmlns="" id="{B529B9D4-FE21-38D0-B570-12FA1A7F049A}"/>
              </a:ext>
            </a:extLst>
          </p:cNvPr>
          <p:cNvPicPr>
            <a:picLocks noChangeAspect="1"/>
          </p:cNvPicPr>
          <p:nvPr/>
        </p:nvPicPr>
        <p:blipFill>
          <a:blip r:embed="rId2" cstate="print"/>
          <a:stretch>
            <a:fillRect/>
          </a:stretch>
        </p:blipFill>
        <p:spPr>
          <a:xfrm>
            <a:off x="204305" y="168413"/>
            <a:ext cx="861392" cy="861392"/>
          </a:xfrm>
          <a:prstGeom prst="rect">
            <a:avLst/>
          </a:prstGeom>
        </p:spPr>
      </p:pic>
      <p:sp>
        <p:nvSpPr>
          <p:cNvPr id="9" name="Title 1">
            <a:extLst>
              <a:ext uri="{FF2B5EF4-FFF2-40B4-BE49-F238E27FC236}">
                <a16:creationId xmlns:a16="http://schemas.microsoft.com/office/drawing/2014/main" xmlns="" id="{4F600E18-895D-A6D7-2A0C-7DFCBC01FEB2}"/>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t>Seminar</a:t>
            </a:r>
          </a:p>
        </p:txBody>
      </p:sp>
    </p:spTree>
    <p:extLst>
      <p:ext uri="{BB962C8B-B14F-4D97-AF65-F5344CB8AC3E}">
        <p14:creationId xmlns:p14="http://schemas.microsoft.com/office/powerpoint/2010/main" xmlns="" val="5054096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16FD52B-49E1-8908-DA94-A968BE76BF76}"/>
              </a:ext>
            </a:extLst>
          </p:cNvPr>
          <p:cNvSpPr>
            <a:spLocks noGrp="1"/>
          </p:cNvSpPr>
          <p:nvPr>
            <p:ph type="title"/>
          </p:nvPr>
        </p:nvSpPr>
        <p:spPr/>
        <p:txBody>
          <a:bodyPr/>
          <a:lstStyle/>
          <a:p>
            <a:pPr algn="ctr"/>
            <a:r>
              <a:rPr lang="en-US">
                <a:ea typeface="+mj-lt"/>
                <a:cs typeface="+mj-lt"/>
              </a:rPr>
              <a:t>Outline</a:t>
            </a:r>
            <a:endParaRPr lang="en-US"/>
          </a:p>
        </p:txBody>
      </p:sp>
      <p:sp>
        <p:nvSpPr>
          <p:cNvPr id="3" name="Content Placeholder 2">
            <a:extLst>
              <a:ext uri="{FF2B5EF4-FFF2-40B4-BE49-F238E27FC236}">
                <a16:creationId xmlns:a16="http://schemas.microsoft.com/office/drawing/2014/main" xmlns="" id="{D19A153C-0B46-5669-321E-F07DFD016A27}"/>
              </a:ext>
            </a:extLst>
          </p:cNvPr>
          <p:cNvSpPr>
            <a:spLocks noGrp="1"/>
          </p:cNvSpPr>
          <p:nvPr>
            <p:ph idx="1"/>
          </p:nvPr>
        </p:nvSpPr>
        <p:spPr/>
        <p:txBody>
          <a:bodyPr vert="horz" lIns="91440" tIns="45720" rIns="91440" bIns="45720" rtlCol="0" anchor="t">
            <a:normAutofit/>
          </a:bodyPr>
          <a:lstStyle/>
          <a:p>
            <a:pPr marL="514350" indent="-514350">
              <a:lnSpc>
                <a:spcPct val="150000"/>
              </a:lnSpc>
              <a:buAutoNum type="arabicPeriod"/>
            </a:pPr>
            <a:r>
              <a:rPr lang="en-US">
                <a:ea typeface="+mn-lt"/>
                <a:cs typeface="+mn-lt"/>
              </a:rPr>
              <a:t>Abstract and Problem Statement</a:t>
            </a:r>
            <a:endParaRPr lang="en-US"/>
          </a:p>
          <a:p>
            <a:pPr marL="514350" indent="-514350">
              <a:lnSpc>
                <a:spcPct val="150000"/>
              </a:lnSpc>
              <a:buAutoNum type="arabicPeriod"/>
            </a:pPr>
            <a:r>
              <a:rPr lang="en-US">
                <a:ea typeface="+mn-lt"/>
                <a:cs typeface="+mn-lt"/>
              </a:rPr>
              <a:t>Topic Selection and Relevance</a:t>
            </a:r>
          </a:p>
        </p:txBody>
      </p:sp>
      <p:pic>
        <p:nvPicPr>
          <p:cNvPr id="5" name="Picture 4" descr="A blue and white logo&#10;&#10;AI-generated content may be incorrect.">
            <a:extLst>
              <a:ext uri="{FF2B5EF4-FFF2-40B4-BE49-F238E27FC236}">
                <a16:creationId xmlns:a16="http://schemas.microsoft.com/office/drawing/2014/main" xmlns="" id="{D9F89D30-BF79-9EC8-AADC-8361E3974441}"/>
              </a:ext>
            </a:extLst>
          </p:cNvPr>
          <p:cNvPicPr>
            <a:picLocks noChangeAspect="1"/>
          </p:cNvPicPr>
          <p:nvPr/>
        </p:nvPicPr>
        <p:blipFill>
          <a:blip r:embed="rId2" cstate="print"/>
          <a:stretch>
            <a:fillRect/>
          </a:stretch>
        </p:blipFill>
        <p:spPr>
          <a:xfrm>
            <a:off x="204305" y="168413"/>
            <a:ext cx="861392" cy="861392"/>
          </a:xfrm>
          <a:prstGeom prst="rect">
            <a:avLst/>
          </a:prstGeom>
        </p:spPr>
      </p:pic>
    </p:spTree>
    <p:extLst>
      <p:ext uri="{BB962C8B-B14F-4D97-AF65-F5344CB8AC3E}">
        <p14:creationId xmlns:p14="http://schemas.microsoft.com/office/powerpoint/2010/main" xmlns="" val="38242738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0DF4679-47D9-8103-1FD7-E36B2D18AD70}"/>
              </a:ext>
            </a:extLst>
          </p:cNvPr>
          <p:cNvSpPr>
            <a:spLocks noGrp="1"/>
          </p:cNvSpPr>
          <p:nvPr>
            <p:ph type="title"/>
          </p:nvPr>
        </p:nvSpPr>
        <p:spPr/>
        <p:txBody>
          <a:bodyPr/>
          <a:lstStyle/>
          <a:p>
            <a:pPr algn="ctr"/>
            <a:r>
              <a:rPr lang="en-US" b="1">
                <a:ea typeface="+mj-lt"/>
                <a:cs typeface="+mj-lt"/>
              </a:rPr>
              <a:t>Abstract and Problem Statement</a:t>
            </a:r>
            <a:r>
              <a:rPr lang="en-US" dirty="0">
                <a:ea typeface="+mj-lt"/>
                <a:cs typeface="+mj-lt"/>
              </a:rPr>
              <a:t> </a:t>
            </a:r>
            <a:endParaRPr lang="en-US" dirty="0"/>
          </a:p>
        </p:txBody>
      </p:sp>
      <p:sp>
        <p:nvSpPr>
          <p:cNvPr id="3" name="Content Placeholder 2">
            <a:extLst>
              <a:ext uri="{FF2B5EF4-FFF2-40B4-BE49-F238E27FC236}">
                <a16:creationId xmlns:a16="http://schemas.microsoft.com/office/drawing/2014/main" xmlns="" id="{03AB8F13-79EB-43CF-3046-69154F0B7E50}"/>
              </a:ext>
            </a:extLst>
          </p:cNvPr>
          <p:cNvSpPr>
            <a:spLocks noGrp="1"/>
          </p:cNvSpPr>
          <p:nvPr>
            <p:ph idx="1"/>
          </p:nvPr>
        </p:nvSpPr>
        <p:spPr/>
        <p:txBody>
          <a:bodyPr vert="horz" lIns="91440" tIns="45720" rIns="91440" bIns="45720" rtlCol="0" anchor="t">
            <a:normAutofit fontScale="70000" lnSpcReduction="20000"/>
          </a:bodyPr>
          <a:lstStyle/>
          <a:p>
            <a:pPr marL="0" indent="0">
              <a:lnSpc>
                <a:spcPct val="160000"/>
              </a:lnSpc>
              <a:buNone/>
            </a:pPr>
            <a:r>
              <a:rPr lang="en-US" sz="1400" b="1">
                <a:ea typeface="+mn-lt"/>
                <a:cs typeface="+mn-lt"/>
              </a:rPr>
              <a:t>Abstract</a:t>
            </a:r>
            <a:r>
              <a:rPr lang="en-US" sz="1400" dirty="0">
                <a:ea typeface="+mn-lt"/>
                <a:cs typeface="+mn-lt"/>
              </a:rPr>
              <a:t> </a:t>
            </a:r>
            <a:endParaRPr lang="en-US" dirty="0">
              <a:ea typeface="+mn-lt"/>
              <a:cs typeface="+mn-lt"/>
            </a:endParaRPr>
          </a:p>
          <a:p>
            <a:pPr marL="0" indent="0">
              <a:lnSpc>
                <a:spcPct val="160000"/>
              </a:lnSpc>
              <a:buNone/>
            </a:pPr>
            <a:r>
              <a:rPr lang="en-US" sz="1400" dirty="0">
                <a:ea typeface="+mn-lt"/>
                <a:cs typeface="+mn-lt"/>
              </a:rPr>
              <a:t>Modern software engineering requires a transition from basic functional code to modular, engineered systems. While High Level Design defines the broad system architecture, Low Level Design (LLD) ensures individual components remain maintainable and scalable. By implementing SOLID principles and industry standard Design Patterns, software can better withstand the complexities of production environments and evolving business requirements.</a:t>
            </a:r>
            <a:endParaRPr lang="en-US" dirty="0">
              <a:ea typeface="+mn-lt"/>
              <a:cs typeface="+mn-lt"/>
            </a:endParaRPr>
          </a:p>
          <a:p>
            <a:pPr marL="0" indent="0">
              <a:lnSpc>
                <a:spcPct val="160000"/>
              </a:lnSpc>
              <a:buNone/>
            </a:pPr>
            <a:r>
              <a:rPr lang="en-US" sz="1400" b="1">
                <a:ea typeface="+mn-lt"/>
                <a:cs typeface="+mn-lt"/>
              </a:rPr>
              <a:t>The Problem (Software Rot and Rigidity)</a:t>
            </a:r>
            <a:endParaRPr lang="en-US"/>
          </a:p>
          <a:p>
            <a:pPr marL="0" indent="0">
              <a:lnSpc>
                <a:spcPct val="160000"/>
              </a:lnSpc>
              <a:buNone/>
            </a:pPr>
            <a:r>
              <a:rPr lang="en-US" sz="1400" b="1" dirty="0">
                <a:ea typeface="+mn-lt"/>
                <a:cs typeface="+mn-lt"/>
              </a:rPr>
              <a:t>Production Fragility:</a:t>
            </a:r>
            <a:r>
              <a:rPr lang="en-US" sz="1400" dirty="0">
                <a:ea typeface="+mn-lt"/>
                <a:cs typeface="+mn-lt"/>
              </a:rPr>
              <a:t> </a:t>
            </a:r>
            <a:endParaRPr lang="en-US" dirty="0">
              <a:ea typeface="+mn-lt"/>
              <a:cs typeface="+mn-lt"/>
            </a:endParaRPr>
          </a:p>
          <a:p>
            <a:pPr marL="0" indent="0">
              <a:lnSpc>
                <a:spcPct val="160000"/>
              </a:lnSpc>
              <a:buNone/>
            </a:pPr>
            <a:r>
              <a:rPr lang="en-US" sz="1400" dirty="0">
                <a:ea typeface="+mn-lt"/>
                <a:cs typeface="+mn-lt"/>
              </a:rPr>
              <a:t>Minor updates in specific modules frequently trigger regression failures in unrelated services, making continuous deployment risky.</a:t>
            </a:r>
            <a:endParaRPr lang="en-US" dirty="0"/>
          </a:p>
          <a:p>
            <a:pPr marL="0" indent="0">
              <a:lnSpc>
                <a:spcPct val="160000"/>
              </a:lnSpc>
              <a:buNone/>
            </a:pPr>
            <a:r>
              <a:rPr lang="en-US" sz="1400" b="1">
                <a:ea typeface="+mn-lt"/>
                <a:cs typeface="+mn-lt"/>
              </a:rPr>
              <a:t>Architectural Rigidity:</a:t>
            </a:r>
            <a:r>
              <a:rPr lang="en-US" sz="1400" dirty="0">
                <a:ea typeface="+mn-lt"/>
                <a:cs typeface="+mn-lt"/>
              </a:rPr>
              <a:t> </a:t>
            </a:r>
            <a:endParaRPr lang="en-US" dirty="0">
              <a:ea typeface="+mn-lt"/>
              <a:cs typeface="+mn-lt"/>
            </a:endParaRPr>
          </a:p>
          <a:p>
            <a:pPr marL="0" indent="0">
              <a:lnSpc>
                <a:spcPct val="160000"/>
              </a:lnSpc>
              <a:buNone/>
            </a:pPr>
            <a:r>
              <a:rPr lang="en-US" sz="1400">
                <a:ea typeface="+mn-lt"/>
                <a:cs typeface="+mn-lt"/>
              </a:rPr>
              <a:t>Tightly coupled components create "ripple effects" where a single change forces a complete system refactor. This lack of isolation prevents individual classes from being tested or reused, making the logic too rigid to evolve without a total rewrite.</a:t>
            </a:r>
            <a:endParaRPr lang="en-US">
              <a:ea typeface="+mn-lt"/>
              <a:cs typeface="+mn-lt"/>
            </a:endParaRPr>
          </a:p>
          <a:p>
            <a:pPr marL="0" indent="0">
              <a:lnSpc>
                <a:spcPct val="160000"/>
              </a:lnSpc>
              <a:buNone/>
            </a:pPr>
            <a:r>
              <a:rPr lang="en-US" sz="1400" b="1" dirty="0">
                <a:ea typeface="+mn-lt"/>
                <a:cs typeface="+mn-lt"/>
              </a:rPr>
              <a:t>Scalability Bottlenecks:</a:t>
            </a:r>
            <a:r>
              <a:rPr lang="en-US" sz="1400" dirty="0">
                <a:ea typeface="+mn-lt"/>
                <a:cs typeface="+mn-lt"/>
              </a:rPr>
              <a:t> </a:t>
            </a:r>
            <a:endParaRPr lang="en-US" dirty="0">
              <a:ea typeface="+mn-lt"/>
              <a:cs typeface="+mn-lt"/>
            </a:endParaRPr>
          </a:p>
          <a:p>
            <a:pPr marL="0" indent="0">
              <a:lnSpc>
                <a:spcPct val="160000"/>
              </a:lnSpc>
              <a:buNone/>
            </a:pPr>
            <a:r>
              <a:rPr lang="en-US" sz="1400" dirty="0">
                <a:ea typeface="+mn-lt"/>
                <a:cs typeface="+mn-lt"/>
              </a:rPr>
              <a:t>Poor design choices at the class level lead to performance issues that cannot be solved by hardware alone, as the internal logic is not flexible enough to grow.</a:t>
            </a:r>
            <a:endParaRPr lang="en-US" dirty="0">
              <a:ea typeface="+mn-lt"/>
              <a:cs typeface="+mn-lt"/>
            </a:endParaRPr>
          </a:p>
          <a:p>
            <a:pPr marL="0" indent="0">
              <a:lnSpc>
                <a:spcPct val="160000"/>
              </a:lnSpc>
              <a:buNone/>
            </a:pPr>
            <a:r>
              <a:rPr lang="en-US" sz="1400" b="1">
                <a:ea typeface="+mn-lt"/>
                <a:cs typeface="+mn-lt"/>
              </a:rPr>
              <a:t>Accumulated Technical Debt:</a:t>
            </a:r>
            <a:r>
              <a:rPr lang="en-US" sz="1400" dirty="0">
                <a:ea typeface="+mn-lt"/>
                <a:cs typeface="+mn-lt"/>
              </a:rPr>
              <a:t> </a:t>
            </a:r>
            <a:endParaRPr lang="en-US" dirty="0">
              <a:ea typeface="+mn-lt"/>
              <a:cs typeface="+mn-lt"/>
            </a:endParaRPr>
          </a:p>
          <a:p>
            <a:pPr marL="0" indent="0">
              <a:lnSpc>
                <a:spcPct val="160000"/>
              </a:lnSpc>
              <a:buNone/>
            </a:pPr>
            <a:r>
              <a:rPr lang="en-US" sz="1400">
                <a:ea typeface="+mn-lt"/>
                <a:cs typeface="+mn-lt"/>
              </a:rPr>
              <a:t>Prioritizing "quick fixes" over design quality creates high long term maintenance costs, where the effort to fix bugs eventually outweighs </a:t>
            </a:r>
            <a:r>
              <a:rPr lang="en-US" sz="1400" dirty="0">
                <a:ea typeface="+mn-lt"/>
                <a:cs typeface="+mn-lt"/>
              </a:rPr>
              <a:t>new feature development.</a:t>
            </a:r>
            <a:endParaRPr lang="en-US" dirty="0">
              <a:ea typeface="+mn-lt"/>
              <a:cs typeface="+mn-lt"/>
            </a:endParaRPr>
          </a:p>
          <a:p>
            <a:pPr marL="0" indent="0">
              <a:lnSpc>
                <a:spcPct val="160000"/>
              </a:lnSpc>
              <a:buNone/>
            </a:pPr>
            <a:endParaRPr lang="en-US" sz="1400" b="1" dirty="0">
              <a:ea typeface="+mn-lt"/>
              <a:cs typeface="+mn-lt"/>
            </a:endParaRPr>
          </a:p>
        </p:txBody>
      </p:sp>
      <p:pic>
        <p:nvPicPr>
          <p:cNvPr id="5" name="Picture 4" descr="A blue and white logo&#10;&#10;AI-generated content may be incorrect.">
            <a:extLst>
              <a:ext uri="{FF2B5EF4-FFF2-40B4-BE49-F238E27FC236}">
                <a16:creationId xmlns:a16="http://schemas.microsoft.com/office/drawing/2014/main" xmlns="" id="{49E90F83-7505-05E0-1500-A9AB0CBD6863}"/>
              </a:ext>
            </a:extLst>
          </p:cNvPr>
          <p:cNvPicPr>
            <a:picLocks noChangeAspect="1"/>
          </p:cNvPicPr>
          <p:nvPr/>
        </p:nvPicPr>
        <p:blipFill>
          <a:blip r:embed="rId2" cstate="print"/>
          <a:stretch>
            <a:fillRect/>
          </a:stretch>
        </p:blipFill>
        <p:spPr>
          <a:xfrm>
            <a:off x="204305" y="168413"/>
            <a:ext cx="861392" cy="861392"/>
          </a:xfrm>
          <a:prstGeom prst="rect">
            <a:avLst/>
          </a:prstGeom>
        </p:spPr>
      </p:pic>
    </p:spTree>
    <p:extLst>
      <p:ext uri="{BB962C8B-B14F-4D97-AF65-F5344CB8AC3E}">
        <p14:creationId xmlns:p14="http://schemas.microsoft.com/office/powerpoint/2010/main" xmlns="" val="16700723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FADF50F-696A-9689-D891-034B600675B3}"/>
              </a:ext>
            </a:extLst>
          </p:cNvPr>
          <p:cNvSpPr>
            <a:spLocks noGrp="1"/>
          </p:cNvSpPr>
          <p:nvPr>
            <p:ph type="title"/>
          </p:nvPr>
        </p:nvSpPr>
        <p:spPr/>
        <p:txBody>
          <a:bodyPr/>
          <a:lstStyle/>
          <a:p>
            <a:pPr algn="ctr"/>
            <a:r>
              <a:rPr lang="en-US">
                <a:ea typeface="+mj-lt"/>
                <a:cs typeface="+mj-lt"/>
              </a:rPr>
              <a:t>Topic Selection and Relevance</a:t>
            </a:r>
          </a:p>
        </p:txBody>
      </p:sp>
      <p:sp>
        <p:nvSpPr>
          <p:cNvPr id="3" name="Content Placeholder 2">
            <a:extLst>
              <a:ext uri="{FF2B5EF4-FFF2-40B4-BE49-F238E27FC236}">
                <a16:creationId xmlns:a16="http://schemas.microsoft.com/office/drawing/2014/main" xmlns="" id="{716EFF90-EAF7-AE47-195A-ABD6B09FBA09}"/>
              </a:ext>
            </a:extLst>
          </p:cNvPr>
          <p:cNvSpPr>
            <a:spLocks noGrp="1"/>
          </p:cNvSpPr>
          <p:nvPr>
            <p:ph idx="1"/>
          </p:nvPr>
        </p:nvSpPr>
        <p:spPr/>
        <p:txBody>
          <a:bodyPr vert="horz" lIns="91440" tIns="45720" rIns="91440" bIns="45720" rtlCol="0" anchor="t">
            <a:normAutofit fontScale="92500" lnSpcReduction="20000"/>
          </a:bodyPr>
          <a:lstStyle/>
          <a:p>
            <a:pPr marL="0" indent="0">
              <a:lnSpc>
                <a:spcPct val="150000"/>
              </a:lnSpc>
              <a:buNone/>
            </a:pPr>
            <a:r>
              <a:rPr lang="en-US" sz="1400" b="1"/>
              <a:t>Industry</a:t>
            </a:r>
            <a:r>
              <a:rPr lang="en-US" sz="1400" b="1" dirty="0"/>
              <a:t> Standards</a:t>
            </a:r>
            <a:endParaRPr lang="en-US" sz="1400"/>
          </a:p>
          <a:p>
            <a:pPr marL="0" indent="0">
              <a:lnSpc>
                <a:spcPct val="150000"/>
              </a:lnSpc>
              <a:buNone/>
            </a:pPr>
            <a:r>
              <a:rPr lang="en-US" sz="1400" dirty="0">
                <a:ea typeface="+mn-lt"/>
                <a:cs typeface="+mn-lt"/>
              </a:rPr>
              <a:t>Major engineering firms across Big Tech, Fintech and Enterprise software prioritize Low Level Design throughout the software development lifecycle. Mastery of these principles is essential for writing clean, production ready code that minimizes technical debt and reduces long term </a:t>
            </a:r>
            <a:r>
              <a:rPr lang="en-US" sz="1400">
                <a:ea typeface="+mn-lt"/>
                <a:cs typeface="+mn-lt"/>
              </a:rPr>
              <a:t>maintenance costs in high stakes environments.</a:t>
            </a:r>
            <a:endParaRPr lang="en-US">
              <a:ea typeface="+mn-lt"/>
              <a:cs typeface="+mn-lt"/>
            </a:endParaRPr>
          </a:p>
          <a:p>
            <a:pPr marL="0" indent="0">
              <a:lnSpc>
                <a:spcPct val="150000"/>
              </a:lnSpc>
              <a:buNone/>
            </a:pPr>
            <a:r>
              <a:rPr lang="en-US" sz="1400" b="1"/>
              <a:t>Scalability at the Core</a:t>
            </a:r>
            <a:endParaRPr lang="en-US" sz="1400"/>
          </a:p>
          <a:p>
            <a:pPr marL="0" indent="0">
              <a:lnSpc>
                <a:spcPct val="150000"/>
              </a:lnSpc>
              <a:buNone/>
            </a:pPr>
            <a:r>
              <a:rPr lang="en-US" sz="1400">
                <a:ea typeface="+mn-lt"/>
                <a:cs typeface="+mn-lt"/>
              </a:rPr>
              <a:t>System wide scalability is only as effective as its individual components. Effective design ensures that software logic is flexible enough to handle </a:t>
            </a:r>
            <a:r>
              <a:rPr lang="en-US" sz="1400" dirty="0">
                <a:ea typeface="+mn-lt"/>
                <a:cs typeface="+mn-lt"/>
              </a:rPr>
              <a:t>concurrent growth without requiring a total architectural rewrite.</a:t>
            </a:r>
            <a:endParaRPr lang="en-US" sz="1400" dirty="0"/>
          </a:p>
          <a:p>
            <a:pPr marL="0" indent="0">
              <a:lnSpc>
                <a:spcPct val="150000"/>
              </a:lnSpc>
              <a:buNone/>
            </a:pPr>
            <a:r>
              <a:rPr lang="en-US" sz="1400" b="1"/>
              <a:t>Professional Development</a:t>
            </a:r>
            <a:endParaRPr lang="en-US" sz="1400"/>
          </a:p>
          <a:p>
            <a:pPr marL="0" indent="0">
              <a:lnSpc>
                <a:spcPct val="150000"/>
              </a:lnSpc>
              <a:buNone/>
            </a:pPr>
            <a:r>
              <a:rPr lang="en-US" sz="1400" dirty="0">
                <a:ea typeface="+mn-lt"/>
                <a:cs typeface="+mn-lt"/>
              </a:rPr>
              <a:t>This seminar bridges the gap between the academic MCA curriculum and real world software engineering practices, moving from basic functional coding to designing modular, maintainable systems.</a:t>
            </a:r>
            <a:endParaRPr lang="en-US" sz="1400" dirty="0"/>
          </a:p>
          <a:p>
            <a:pPr marL="0" indent="0">
              <a:lnSpc>
                <a:spcPct val="150000"/>
              </a:lnSpc>
              <a:buNone/>
            </a:pPr>
            <a:r>
              <a:rPr lang="en-US" sz="1400" b="1"/>
              <a:t>Technical Depth</a:t>
            </a:r>
            <a:endParaRPr lang="en-US" sz="1400"/>
          </a:p>
          <a:p>
            <a:pPr marL="0" indent="0">
              <a:lnSpc>
                <a:spcPct val="150000"/>
              </a:lnSpc>
              <a:buNone/>
            </a:pPr>
            <a:r>
              <a:rPr lang="en-US" sz="1400" dirty="0">
                <a:ea typeface="+mn-lt"/>
                <a:cs typeface="+mn-lt"/>
              </a:rPr>
              <a:t>The study focuses on the practical application of SOLID principles and Design Patterns to eliminate common architectural bottlenecks, ensuring the system remains "open for extension but closed for modification."</a:t>
            </a:r>
            <a:endParaRPr lang="en-US" sz="1400" dirty="0"/>
          </a:p>
          <a:p>
            <a:pPr marL="0" indent="0">
              <a:lnSpc>
                <a:spcPct val="150000"/>
              </a:lnSpc>
              <a:buNone/>
            </a:pPr>
            <a:endParaRPr lang="en-US" sz="1400" dirty="0"/>
          </a:p>
        </p:txBody>
      </p:sp>
      <p:pic>
        <p:nvPicPr>
          <p:cNvPr id="5" name="Picture 4" descr="A blue and white logo&#10;&#10;AI-generated content may be incorrect.">
            <a:extLst>
              <a:ext uri="{FF2B5EF4-FFF2-40B4-BE49-F238E27FC236}">
                <a16:creationId xmlns:a16="http://schemas.microsoft.com/office/drawing/2014/main" xmlns="" id="{CA83E2E8-8155-C364-6AFB-DE4957DA57A6}"/>
              </a:ext>
            </a:extLst>
          </p:cNvPr>
          <p:cNvPicPr>
            <a:picLocks noChangeAspect="1"/>
          </p:cNvPicPr>
          <p:nvPr/>
        </p:nvPicPr>
        <p:blipFill>
          <a:blip r:embed="rId2" cstate="print"/>
          <a:stretch>
            <a:fillRect/>
          </a:stretch>
        </p:blipFill>
        <p:spPr>
          <a:xfrm>
            <a:off x="204305" y="168413"/>
            <a:ext cx="861392" cy="861392"/>
          </a:xfrm>
          <a:prstGeom prst="rect">
            <a:avLst/>
          </a:prstGeom>
        </p:spPr>
      </p:pic>
    </p:spTree>
    <p:extLst>
      <p:ext uri="{BB962C8B-B14F-4D97-AF65-F5344CB8AC3E}">
        <p14:creationId xmlns:p14="http://schemas.microsoft.com/office/powerpoint/2010/main" xmlns="" val="17726303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41EF3B1-DFD2-C2C9-DFA9-B99FF9F8BE2B}"/>
              </a:ext>
            </a:extLst>
          </p:cNvPr>
          <p:cNvSpPr>
            <a:spLocks noGrp="1"/>
          </p:cNvSpPr>
          <p:nvPr>
            <p:ph type="title"/>
          </p:nvPr>
        </p:nvSpPr>
        <p:spPr>
          <a:xfrm>
            <a:off x="838200" y="1915102"/>
            <a:ext cx="10515600" cy="1325563"/>
          </a:xfrm>
        </p:spPr>
        <p:txBody>
          <a:bodyPr/>
          <a:lstStyle/>
          <a:p>
            <a:pPr algn="ctr"/>
            <a:r>
              <a:rPr lang="en-US"/>
              <a:t>Thank You</a:t>
            </a:r>
          </a:p>
        </p:txBody>
      </p:sp>
      <p:pic>
        <p:nvPicPr>
          <p:cNvPr id="4" name="Picture 3" descr="A blue and white logo&#10;&#10;AI-generated content may be incorrect.">
            <a:extLst>
              <a:ext uri="{FF2B5EF4-FFF2-40B4-BE49-F238E27FC236}">
                <a16:creationId xmlns:a16="http://schemas.microsoft.com/office/drawing/2014/main" xmlns="" id="{3AB45649-46DB-63EE-0C5A-735D6229B433}"/>
              </a:ext>
            </a:extLst>
          </p:cNvPr>
          <p:cNvPicPr>
            <a:picLocks noChangeAspect="1"/>
          </p:cNvPicPr>
          <p:nvPr/>
        </p:nvPicPr>
        <p:blipFill>
          <a:blip r:embed="rId2" cstate="print"/>
          <a:stretch>
            <a:fillRect/>
          </a:stretch>
        </p:blipFill>
        <p:spPr>
          <a:xfrm>
            <a:off x="204305" y="168413"/>
            <a:ext cx="861392" cy="861392"/>
          </a:xfrm>
          <a:prstGeom prst="rect">
            <a:avLst/>
          </a:prstGeom>
        </p:spPr>
      </p:pic>
      <p:sp>
        <p:nvSpPr>
          <p:cNvPr id="5" name="TextBox 4">
            <a:extLst>
              <a:ext uri="{FF2B5EF4-FFF2-40B4-BE49-F238E27FC236}">
                <a16:creationId xmlns:a16="http://schemas.microsoft.com/office/drawing/2014/main" xmlns="" id="{FBEC4A68-BB44-5269-E7B8-9892C66A1B6A}"/>
              </a:ext>
            </a:extLst>
          </p:cNvPr>
          <p:cNvSpPr txBox="1"/>
          <p:nvPr/>
        </p:nvSpPr>
        <p:spPr>
          <a:xfrm>
            <a:off x="855401" y="3238986"/>
            <a:ext cx="1049676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t>Questions and Feedback</a:t>
            </a:r>
          </a:p>
        </p:txBody>
      </p:sp>
      <p:sp>
        <p:nvSpPr>
          <p:cNvPr id="6" name="TextBox 5">
            <a:extLst>
              <a:ext uri="{FF2B5EF4-FFF2-40B4-BE49-F238E27FC236}">
                <a16:creationId xmlns:a16="http://schemas.microsoft.com/office/drawing/2014/main" xmlns="" id="{FFFF6B90-425E-620C-35C1-D917801918D8}"/>
              </a:ext>
            </a:extLst>
          </p:cNvPr>
          <p:cNvSpPr txBox="1"/>
          <p:nvPr/>
        </p:nvSpPr>
        <p:spPr>
          <a:xfrm>
            <a:off x="1059230" y="6165953"/>
            <a:ext cx="112704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ea typeface="+mn-lt"/>
                <a:cs typeface="+mn-lt"/>
              </a:rPr>
              <a:t>MIRЯOЯ</a:t>
            </a:r>
            <a:endParaRPr lang="en-US"/>
          </a:p>
        </p:txBody>
      </p:sp>
      <p:sp>
        <p:nvSpPr>
          <p:cNvPr id="7" name="TextBox 6">
            <a:extLst>
              <a:ext uri="{FF2B5EF4-FFF2-40B4-BE49-F238E27FC236}">
                <a16:creationId xmlns:a16="http://schemas.microsoft.com/office/drawing/2014/main" xmlns="" id="{3EA1CE2E-1203-9DE5-A7BC-89CF2B772871}"/>
              </a:ext>
            </a:extLst>
          </p:cNvPr>
          <p:cNvSpPr txBox="1"/>
          <p:nvPr/>
        </p:nvSpPr>
        <p:spPr>
          <a:xfrm>
            <a:off x="7723227" y="6167801"/>
            <a:ext cx="362650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Prabhu Teja Pamula | 24EMCA1237</a:t>
            </a:r>
          </a:p>
        </p:txBody>
      </p:sp>
    </p:spTree>
    <p:extLst>
      <p:ext uri="{BB962C8B-B14F-4D97-AF65-F5344CB8AC3E}">
        <p14:creationId xmlns:p14="http://schemas.microsoft.com/office/powerpoint/2010/main" xmlns="" val="3120170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417</Words>
  <Application>Microsoft Office PowerPoint</Application>
  <PresentationFormat>Custom</PresentationFormat>
  <Paragraphs>38</Paragraphs>
  <Slides>5</Slides>
  <Notes>0</Notes>
  <HiddenSlides>0</HiddenSlides>
  <MMClips>0</MMClip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office theme</vt:lpstr>
      <vt:lpstr>Engineering Scalable Systems: The Core Principles of LLD and SOLID</vt:lpstr>
      <vt:lpstr>Outline</vt:lpstr>
      <vt:lpstr>Abstract and Problem Statement </vt:lpstr>
      <vt:lpstr>Topic Selection and Relevance</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Engineering Scalable Systems: The Core Principles of LLD and SOLID</dc:title>
  <dc:creator/>
  <cp:lastModifiedBy>Shelly Pranuti</cp:lastModifiedBy>
  <cp:revision>170</cp:revision>
  <dcterms:created xsi:type="dcterms:W3CDTF">2026-03-26T20:48:35Z</dcterms:created>
  <dcterms:modified xsi:type="dcterms:W3CDTF">2026-03-28T05:03:44Z</dcterms:modified>
</cp:coreProperties>
</file>